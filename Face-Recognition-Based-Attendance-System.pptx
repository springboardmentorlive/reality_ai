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57CA2E-438D-441D-A97C-10C78A8D1759}" v="6" dt="2026-01-06T07:14:24.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522" y="5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b" userId="912c844e9684118f" providerId="LiveId" clId="{75117FD0-9DEB-4AF8-A408-6423283E15FF}"/>
    <pc:docChg chg="undo custSel modSld">
      <pc:chgData name="s b" userId="912c844e9684118f" providerId="LiveId" clId="{75117FD0-9DEB-4AF8-A408-6423283E15FF}" dt="2026-01-06T07:18:42.041" v="72" actId="1076"/>
      <pc:docMkLst>
        <pc:docMk/>
      </pc:docMkLst>
      <pc:sldChg chg="addSp modSp mod">
        <pc:chgData name="s b" userId="912c844e9684118f" providerId="LiveId" clId="{75117FD0-9DEB-4AF8-A408-6423283E15FF}" dt="2026-01-06T07:13:13.337" v="8" actId="1076"/>
        <pc:sldMkLst>
          <pc:docMk/>
          <pc:sldMk cId="0" sldId="256"/>
        </pc:sldMkLst>
        <pc:spChg chg="add mod">
          <ac:chgData name="s b" userId="912c844e9684118f" providerId="LiveId" clId="{75117FD0-9DEB-4AF8-A408-6423283E15FF}" dt="2026-01-06T07:11:52.017" v="2" actId="207"/>
          <ac:spMkLst>
            <pc:docMk/>
            <pc:sldMk cId="0" sldId="256"/>
            <ac:spMk id="7" creationId="{01F5F069-14BF-3B9B-5E45-04A813886A8B}"/>
          </ac:spMkLst>
        </pc:spChg>
        <pc:picChg chg="add mod modCrop">
          <ac:chgData name="s b" userId="912c844e9684118f" providerId="LiveId" clId="{75117FD0-9DEB-4AF8-A408-6423283E15FF}" dt="2026-01-06T07:13:13.337" v="8" actId="1076"/>
          <ac:picMkLst>
            <pc:docMk/>
            <pc:sldMk cId="0" sldId="256"/>
            <ac:picMk id="9" creationId="{87459966-A7C1-47AC-0D0B-C1C31D8A9C99}"/>
          </ac:picMkLst>
        </pc:picChg>
      </pc:sldChg>
      <pc:sldChg chg="addSp modSp mod">
        <pc:chgData name="s b" userId="912c844e9684118f" providerId="LiveId" clId="{75117FD0-9DEB-4AF8-A408-6423283E15FF}" dt="2026-01-06T07:13:34.051" v="10" actId="1076"/>
        <pc:sldMkLst>
          <pc:docMk/>
          <pc:sldMk cId="0" sldId="257"/>
        </pc:sldMkLst>
        <pc:picChg chg="add mod">
          <ac:chgData name="s b" userId="912c844e9684118f" providerId="LiveId" clId="{75117FD0-9DEB-4AF8-A408-6423283E15FF}" dt="2026-01-06T07:13:34.051" v="10" actId="1076"/>
          <ac:picMkLst>
            <pc:docMk/>
            <pc:sldMk cId="0" sldId="257"/>
            <ac:picMk id="11" creationId="{1F7CDB18-41C9-E096-708F-A9F1F48634D7}"/>
          </ac:picMkLst>
        </pc:picChg>
      </pc:sldChg>
      <pc:sldChg chg="addSp modSp mod">
        <pc:chgData name="s b" userId="912c844e9684118f" providerId="LiveId" clId="{75117FD0-9DEB-4AF8-A408-6423283E15FF}" dt="2026-01-06T07:13:52.656" v="14" actId="14100"/>
        <pc:sldMkLst>
          <pc:docMk/>
          <pc:sldMk cId="0" sldId="259"/>
        </pc:sldMkLst>
        <pc:picChg chg="add mod">
          <ac:chgData name="s b" userId="912c844e9684118f" providerId="LiveId" clId="{75117FD0-9DEB-4AF8-A408-6423283E15FF}" dt="2026-01-06T07:13:52.656" v="14" actId="14100"/>
          <ac:picMkLst>
            <pc:docMk/>
            <pc:sldMk cId="0" sldId="259"/>
            <ac:picMk id="19" creationId="{70B7C45B-CAA7-EE43-7B80-B2AB31810640}"/>
          </ac:picMkLst>
        </pc:picChg>
      </pc:sldChg>
      <pc:sldChg chg="addSp modSp mod">
        <pc:chgData name="s b" userId="912c844e9684118f" providerId="LiveId" clId="{75117FD0-9DEB-4AF8-A408-6423283E15FF}" dt="2026-01-06T07:14:15.078" v="17" actId="14100"/>
        <pc:sldMkLst>
          <pc:docMk/>
          <pc:sldMk cId="0" sldId="261"/>
        </pc:sldMkLst>
        <pc:picChg chg="add mod">
          <ac:chgData name="s b" userId="912c844e9684118f" providerId="LiveId" clId="{75117FD0-9DEB-4AF8-A408-6423283E15FF}" dt="2026-01-06T07:14:15.078" v="17" actId="14100"/>
          <ac:picMkLst>
            <pc:docMk/>
            <pc:sldMk cId="0" sldId="261"/>
            <ac:picMk id="23" creationId="{0AFE53E7-2B5C-F046-5F72-F2C601012AE3}"/>
          </ac:picMkLst>
        </pc:picChg>
      </pc:sldChg>
      <pc:sldChg chg="addSp modSp mod">
        <pc:chgData name="s b" userId="912c844e9684118f" providerId="LiveId" clId="{75117FD0-9DEB-4AF8-A408-6423283E15FF}" dt="2026-01-06T07:14:31.304" v="20" actId="14100"/>
        <pc:sldMkLst>
          <pc:docMk/>
          <pc:sldMk cId="0" sldId="262"/>
        </pc:sldMkLst>
        <pc:picChg chg="add mod">
          <ac:chgData name="s b" userId="912c844e9684118f" providerId="LiveId" clId="{75117FD0-9DEB-4AF8-A408-6423283E15FF}" dt="2026-01-06T07:14:31.304" v="20" actId="14100"/>
          <ac:picMkLst>
            <pc:docMk/>
            <pc:sldMk cId="0" sldId="262"/>
            <ac:picMk id="21" creationId="{C5F8300C-BFA5-A4D6-7568-EF7BA61ED4D1}"/>
          </ac:picMkLst>
        </pc:picChg>
      </pc:sldChg>
      <pc:sldChg chg="modSp mod">
        <pc:chgData name="s b" userId="912c844e9684118f" providerId="LiveId" clId="{75117FD0-9DEB-4AF8-A408-6423283E15FF}" dt="2026-01-06T07:17:10.331" v="66" actId="1076"/>
        <pc:sldMkLst>
          <pc:docMk/>
          <pc:sldMk cId="0" sldId="263"/>
        </pc:sldMkLst>
        <pc:spChg chg="mod">
          <ac:chgData name="s b" userId="912c844e9684118f" providerId="LiveId" clId="{75117FD0-9DEB-4AF8-A408-6423283E15FF}" dt="2026-01-06T07:17:10.331" v="66" actId="1076"/>
          <ac:spMkLst>
            <pc:docMk/>
            <pc:sldMk cId="0" sldId="263"/>
            <ac:spMk id="3" creationId="{00000000-0000-0000-0000-000000000000}"/>
          </ac:spMkLst>
        </pc:spChg>
        <pc:spChg chg="mod">
          <ac:chgData name="s b" userId="912c844e9684118f" providerId="LiveId" clId="{75117FD0-9DEB-4AF8-A408-6423283E15FF}" dt="2026-01-06T07:17:02.722" v="65" actId="14100"/>
          <ac:spMkLst>
            <pc:docMk/>
            <pc:sldMk cId="0" sldId="263"/>
            <ac:spMk id="5" creationId="{00000000-0000-0000-0000-000000000000}"/>
          </ac:spMkLst>
        </pc:spChg>
        <pc:spChg chg="mod">
          <ac:chgData name="s b" userId="912c844e9684118f" providerId="LiveId" clId="{75117FD0-9DEB-4AF8-A408-6423283E15FF}" dt="2026-01-06T07:16:56.989" v="64" actId="20577"/>
          <ac:spMkLst>
            <pc:docMk/>
            <pc:sldMk cId="0" sldId="263"/>
            <ac:spMk id="6" creationId="{00000000-0000-0000-0000-000000000000}"/>
          </ac:spMkLst>
        </pc:spChg>
        <pc:spChg chg="mod">
          <ac:chgData name="s b" userId="912c844e9684118f" providerId="LiveId" clId="{75117FD0-9DEB-4AF8-A408-6423283E15FF}" dt="2026-01-06T07:16:53.811" v="63" actId="20577"/>
          <ac:spMkLst>
            <pc:docMk/>
            <pc:sldMk cId="0" sldId="263"/>
            <ac:spMk id="7" creationId="{00000000-0000-0000-0000-000000000000}"/>
          </ac:spMkLst>
        </pc:spChg>
        <pc:spChg chg="mod">
          <ac:chgData name="s b" userId="912c844e9684118f" providerId="LiveId" clId="{75117FD0-9DEB-4AF8-A408-6423283E15FF}" dt="2026-01-06T07:16:48.425" v="62" actId="20577"/>
          <ac:spMkLst>
            <pc:docMk/>
            <pc:sldMk cId="0" sldId="263"/>
            <ac:spMk id="8" creationId="{00000000-0000-0000-0000-000000000000}"/>
          </ac:spMkLst>
        </pc:spChg>
        <pc:spChg chg="mod">
          <ac:chgData name="s b" userId="912c844e9684118f" providerId="LiveId" clId="{75117FD0-9DEB-4AF8-A408-6423283E15FF}" dt="2026-01-06T07:16:41.949" v="61" actId="20577"/>
          <ac:spMkLst>
            <pc:docMk/>
            <pc:sldMk cId="0" sldId="263"/>
            <ac:spMk id="9" creationId="{00000000-0000-0000-0000-000000000000}"/>
          </ac:spMkLst>
        </pc:spChg>
        <pc:spChg chg="mod">
          <ac:chgData name="s b" userId="912c844e9684118f" providerId="LiveId" clId="{75117FD0-9DEB-4AF8-A408-6423283E15FF}" dt="2026-01-06T07:16:14.910" v="52" actId="14100"/>
          <ac:spMkLst>
            <pc:docMk/>
            <pc:sldMk cId="0" sldId="263"/>
            <ac:spMk id="10" creationId="{00000000-0000-0000-0000-000000000000}"/>
          </ac:spMkLst>
        </pc:spChg>
        <pc:spChg chg="mod">
          <ac:chgData name="s b" userId="912c844e9684118f" providerId="LiveId" clId="{75117FD0-9DEB-4AF8-A408-6423283E15FF}" dt="2026-01-06T07:16:09.754" v="51" actId="20577"/>
          <ac:spMkLst>
            <pc:docMk/>
            <pc:sldMk cId="0" sldId="263"/>
            <ac:spMk id="11" creationId="{00000000-0000-0000-0000-000000000000}"/>
          </ac:spMkLst>
        </pc:spChg>
        <pc:spChg chg="mod">
          <ac:chgData name="s b" userId="912c844e9684118f" providerId="LiveId" clId="{75117FD0-9DEB-4AF8-A408-6423283E15FF}" dt="2026-01-06T07:15:55.161" v="45" actId="20577"/>
          <ac:spMkLst>
            <pc:docMk/>
            <pc:sldMk cId="0" sldId="263"/>
            <ac:spMk id="12" creationId="{00000000-0000-0000-0000-000000000000}"/>
          </ac:spMkLst>
        </pc:spChg>
        <pc:spChg chg="mod">
          <ac:chgData name="s b" userId="912c844e9684118f" providerId="LiveId" clId="{75117FD0-9DEB-4AF8-A408-6423283E15FF}" dt="2026-01-06T07:15:51.875" v="43" actId="20577"/>
          <ac:spMkLst>
            <pc:docMk/>
            <pc:sldMk cId="0" sldId="263"/>
            <ac:spMk id="13" creationId="{00000000-0000-0000-0000-000000000000}"/>
          </ac:spMkLst>
        </pc:spChg>
        <pc:spChg chg="mod">
          <ac:chgData name="s b" userId="912c844e9684118f" providerId="LiveId" clId="{75117FD0-9DEB-4AF8-A408-6423283E15FF}" dt="2026-01-06T07:15:49.217" v="41" actId="20577"/>
          <ac:spMkLst>
            <pc:docMk/>
            <pc:sldMk cId="0" sldId="263"/>
            <ac:spMk id="14" creationId="{00000000-0000-0000-0000-000000000000}"/>
          </ac:spMkLst>
        </pc:spChg>
        <pc:spChg chg="mod">
          <ac:chgData name="s b" userId="912c844e9684118f" providerId="LiveId" clId="{75117FD0-9DEB-4AF8-A408-6423283E15FF}" dt="2026-01-06T07:15:46.541" v="39" actId="20577"/>
          <ac:spMkLst>
            <pc:docMk/>
            <pc:sldMk cId="0" sldId="263"/>
            <ac:spMk id="15" creationId="{00000000-0000-0000-0000-000000000000}"/>
          </ac:spMkLst>
        </pc:spChg>
      </pc:sldChg>
      <pc:sldChg chg="modSp mod">
        <pc:chgData name="s b" userId="912c844e9684118f" providerId="LiveId" clId="{75117FD0-9DEB-4AF8-A408-6423283E15FF}" dt="2026-01-06T07:18:42.041" v="72" actId="1076"/>
        <pc:sldMkLst>
          <pc:docMk/>
          <pc:sldMk cId="0" sldId="264"/>
        </pc:sldMkLst>
        <pc:spChg chg="mod">
          <ac:chgData name="s b" userId="912c844e9684118f" providerId="LiveId" clId="{75117FD0-9DEB-4AF8-A408-6423283E15FF}" dt="2026-01-06T07:18:42.041" v="72" actId="1076"/>
          <ac:spMkLst>
            <pc:docMk/>
            <pc:sldMk cId="0" sldId="264"/>
            <ac:spMk id="12" creationId="{00000000-0000-0000-0000-000000000000}"/>
          </ac:spMkLst>
        </pc:spChg>
        <pc:spChg chg="mod">
          <ac:chgData name="s b" userId="912c844e9684118f" providerId="LiveId" clId="{75117FD0-9DEB-4AF8-A408-6423283E15FF}" dt="2026-01-06T07:17:47.930" v="67" actId="14100"/>
          <ac:spMkLst>
            <pc:docMk/>
            <pc:sldMk cId="0" sldId="264"/>
            <ac:spMk id="13" creationId="{00000000-0000-0000-0000-000000000000}"/>
          </ac:spMkLst>
        </pc:spChg>
        <pc:spChg chg="mod">
          <ac:chgData name="s b" userId="912c844e9684118f" providerId="LiveId" clId="{75117FD0-9DEB-4AF8-A408-6423283E15FF}" dt="2026-01-06T07:18:08.517" v="69" actId="255"/>
          <ac:spMkLst>
            <pc:docMk/>
            <pc:sldMk cId="0" sldId="264"/>
            <ac:spMk id="16" creationId="{00000000-0000-0000-0000-000000000000}"/>
          </ac:spMkLst>
        </pc:spChg>
        <pc:spChg chg="mod">
          <ac:chgData name="s b" userId="912c844e9684118f" providerId="LiveId" clId="{75117FD0-9DEB-4AF8-A408-6423283E15FF}" dt="2026-01-06T07:18:16.302" v="71" actId="20577"/>
          <ac:spMkLst>
            <pc:docMk/>
            <pc:sldMk cId="0" sldId="264"/>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60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5.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5.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400895"/>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FF8AAF"/>
                </a:solidFill>
                <a:latin typeface="Petrona Bold" pitchFamily="34" charset="0"/>
                <a:ea typeface="Petrona Bold" pitchFamily="34" charset="-122"/>
                <a:cs typeface="Petrona Bold" pitchFamily="34" charset="-120"/>
              </a:rPr>
              <a:t>Face Recognition Based Attendance System</a:t>
            </a:r>
            <a:endParaRPr lang="en-US" sz="4650" dirty="0"/>
          </a:p>
        </p:txBody>
      </p:sp>
      <p:sp>
        <p:nvSpPr>
          <p:cNvPr id="4" name="Text 1"/>
          <p:cNvSpPr/>
          <p:nvPr/>
        </p:nvSpPr>
        <p:spPr>
          <a:xfrm>
            <a:off x="6280190" y="4229576"/>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 2"/>
          <p:cNvSpPr/>
          <p:nvPr/>
        </p:nvSpPr>
        <p:spPr>
          <a:xfrm>
            <a:off x="6280190" y="4847630"/>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E0D6DE"/>
                </a:solidFill>
                <a:latin typeface="Inter" pitchFamily="34" charset="0"/>
                <a:ea typeface="Inter" pitchFamily="34" charset="-122"/>
                <a:cs typeface="Inter" pitchFamily="34" charset="-120"/>
              </a:rPr>
              <a:t>Intern:</a:t>
            </a:r>
            <a:r>
              <a:rPr lang="en-US" sz="1750" dirty="0">
                <a:solidFill>
                  <a:srgbClr val="E0D6DE"/>
                </a:solidFill>
                <a:latin typeface="Inter" pitchFamily="34" charset="0"/>
                <a:ea typeface="Inter" pitchFamily="34" charset="-122"/>
                <a:cs typeface="Inter" pitchFamily="34" charset="-120"/>
              </a:rPr>
              <a:t> Sakshi Bisht</a:t>
            </a:r>
            <a:endParaRPr lang="en-US" sz="1750" dirty="0"/>
          </a:p>
        </p:txBody>
      </p:sp>
      <p:sp>
        <p:nvSpPr>
          <p:cNvPr id="6" name="Text 3"/>
          <p:cNvSpPr/>
          <p:nvPr/>
        </p:nvSpPr>
        <p:spPr>
          <a:xfrm>
            <a:off x="6280190" y="5465683"/>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E0D6DE"/>
                </a:solidFill>
                <a:latin typeface="Inter" pitchFamily="34" charset="0"/>
                <a:ea typeface="Inter" pitchFamily="34" charset="-122"/>
                <a:cs typeface="Inter" pitchFamily="34" charset="-120"/>
              </a:rPr>
              <a:t>Organization:</a:t>
            </a:r>
            <a:r>
              <a:rPr lang="en-US" sz="1750" dirty="0">
                <a:solidFill>
                  <a:srgbClr val="E0D6DE"/>
                </a:solidFill>
                <a:latin typeface="Inter" pitchFamily="34" charset="0"/>
                <a:ea typeface="Inter" pitchFamily="34" charset="-122"/>
                <a:cs typeface="Inter" pitchFamily="34" charset="-120"/>
              </a:rPr>
              <a:t> Infosys Springboard</a:t>
            </a:r>
            <a:endParaRPr lang="en-US" sz="1750" dirty="0"/>
          </a:p>
        </p:txBody>
      </p:sp>
      <p:sp>
        <p:nvSpPr>
          <p:cNvPr id="7" name="TextBox 6">
            <a:extLst>
              <a:ext uri="{FF2B5EF4-FFF2-40B4-BE49-F238E27FC236}">
                <a16:creationId xmlns:a16="http://schemas.microsoft.com/office/drawing/2014/main" id="{01F5F069-14BF-3B9B-5E45-04A813886A8B}"/>
              </a:ext>
            </a:extLst>
          </p:cNvPr>
          <p:cNvSpPr txBox="1"/>
          <p:nvPr/>
        </p:nvSpPr>
        <p:spPr>
          <a:xfrm>
            <a:off x="12645483" y="7560527"/>
            <a:ext cx="1851102" cy="579863"/>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endParaRPr lang="en-US" dirty="0"/>
          </a:p>
        </p:txBody>
      </p:sp>
      <p:pic>
        <p:nvPicPr>
          <p:cNvPr id="9" name="Picture 8">
            <a:extLst>
              <a:ext uri="{FF2B5EF4-FFF2-40B4-BE49-F238E27FC236}">
                <a16:creationId xmlns:a16="http://schemas.microsoft.com/office/drawing/2014/main" id="{87459966-A7C1-47AC-0D0B-C1C31D8A9C99}"/>
              </a:ext>
            </a:extLst>
          </p:cNvPr>
          <p:cNvPicPr>
            <a:picLocks noChangeAspect="1"/>
          </p:cNvPicPr>
          <p:nvPr/>
        </p:nvPicPr>
        <p:blipFill>
          <a:blip r:embed="rId4"/>
          <a:srcRect l="62441" t="3548" r="10404" b="88922"/>
          <a:stretch>
            <a:fillRect/>
          </a:stretch>
        </p:blipFill>
        <p:spPr>
          <a:xfrm>
            <a:off x="11719932" y="7527073"/>
            <a:ext cx="2798956" cy="6133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472446"/>
            <a:ext cx="272177" cy="426244"/>
          </a:xfrm>
          <a:prstGeom prst="roundRect">
            <a:avLst>
              <a:gd name="adj" fmla="val 28002"/>
            </a:avLst>
          </a:prstGeom>
          <a:solidFill>
            <a:srgbClr val="1C113B"/>
          </a:solidFill>
          <a:ln/>
        </p:spPr>
      </p:sp>
      <p:sp>
        <p:nvSpPr>
          <p:cNvPr id="3" name="Text 1"/>
          <p:cNvSpPr/>
          <p:nvPr/>
        </p:nvSpPr>
        <p:spPr>
          <a:xfrm>
            <a:off x="793790" y="1989415"/>
            <a:ext cx="8129588" cy="744260"/>
          </a:xfrm>
          <a:prstGeom prst="rect">
            <a:avLst/>
          </a:prstGeom>
          <a:noFill/>
          <a:ln/>
        </p:spPr>
        <p:txBody>
          <a:bodyPr wrap="none" lIns="0" tIns="0" rIns="0" bIns="0" rtlCol="0" anchor="t"/>
          <a:lstStyle/>
          <a:p>
            <a:pPr marL="0" indent="0" algn="l">
              <a:lnSpc>
                <a:spcPts val="5850"/>
              </a:lnSpc>
              <a:buNone/>
            </a:pPr>
            <a:r>
              <a:rPr lang="en-US" sz="4650" b="1" dirty="0">
                <a:solidFill>
                  <a:srgbClr val="FF8AAF"/>
                </a:solidFill>
                <a:latin typeface="Petrona Bold" pitchFamily="34" charset="0"/>
                <a:ea typeface="Petrona Bold" pitchFamily="34" charset="-122"/>
                <a:cs typeface="Petrona Bold" pitchFamily="34" charset="-120"/>
              </a:rPr>
              <a:t>The Challenge &amp; Our Solution</a:t>
            </a:r>
            <a:endParaRPr lang="en-US" sz="4650" dirty="0"/>
          </a:p>
        </p:txBody>
      </p:sp>
      <p:sp>
        <p:nvSpPr>
          <p:cNvPr id="4" name="Text 2"/>
          <p:cNvSpPr/>
          <p:nvPr/>
        </p:nvSpPr>
        <p:spPr>
          <a:xfrm>
            <a:off x="793790" y="330065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FF8AAF"/>
                </a:solidFill>
                <a:latin typeface="Petrona Bold" pitchFamily="34" charset="0"/>
                <a:ea typeface="Petrona Bold" pitchFamily="34" charset="-122"/>
                <a:cs typeface="Petrona Bold" pitchFamily="34" charset="-120"/>
              </a:rPr>
              <a:t>Traditional Problems</a:t>
            </a:r>
            <a:endParaRPr lang="en-US" sz="2300" dirty="0"/>
          </a:p>
        </p:txBody>
      </p:sp>
      <p:sp>
        <p:nvSpPr>
          <p:cNvPr id="5" name="Text 3"/>
          <p:cNvSpPr/>
          <p:nvPr/>
        </p:nvSpPr>
        <p:spPr>
          <a:xfrm>
            <a:off x="793790" y="3899535"/>
            <a:ext cx="5564862"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0D6DE"/>
                </a:solidFill>
                <a:latin typeface="Inter" pitchFamily="34" charset="0"/>
                <a:ea typeface="Inter" pitchFamily="34" charset="-122"/>
                <a:cs typeface="Inter" pitchFamily="34" charset="-120"/>
              </a:rPr>
              <a:t>Manual attendance is time-consuming and error-prone</a:t>
            </a:r>
            <a:endParaRPr lang="en-US" sz="1750" dirty="0"/>
          </a:p>
        </p:txBody>
      </p:sp>
      <p:sp>
        <p:nvSpPr>
          <p:cNvPr id="6" name="Text 4"/>
          <p:cNvSpPr/>
          <p:nvPr/>
        </p:nvSpPr>
        <p:spPr>
          <a:xfrm>
            <a:off x="793790" y="4704636"/>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0D6DE"/>
                </a:solidFill>
                <a:latin typeface="Inter" pitchFamily="34" charset="0"/>
                <a:ea typeface="Inter" pitchFamily="34" charset="-122"/>
                <a:cs typeface="Inter" pitchFamily="34" charset="-120"/>
              </a:rPr>
              <a:t>Proxy attendance remains a persistent issue</a:t>
            </a:r>
            <a:endParaRPr lang="en-US" sz="1750" dirty="0"/>
          </a:p>
        </p:txBody>
      </p:sp>
      <p:sp>
        <p:nvSpPr>
          <p:cNvPr id="7" name="Text 5"/>
          <p:cNvSpPr/>
          <p:nvPr/>
        </p:nvSpPr>
        <p:spPr>
          <a:xfrm>
            <a:off x="793790" y="5146834"/>
            <a:ext cx="5564862"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0D6DE"/>
                </a:solidFill>
                <a:latin typeface="Inter" pitchFamily="34" charset="0"/>
                <a:ea typeface="Inter" pitchFamily="34" charset="-122"/>
                <a:cs typeface="Inter" pitchFamily="34" charset="-120"/>
              </a:rPr>
              <a:t>Paper-based records are difficult to maintain and analyze</a:t>
            </a:r>
            <a:endParaRPr lang="en-US" sz="1750" dirty="0"/>
          </a:p>
        </p:txBody>
      </p:sp>
      <p:sp>
        <p:nvSpPr>
          <p:cNvPr id="8" name="Text 6"/>
          <p:cNvSpPr/>
          <p:nvPr/>
        </p:nvSpPr>
        <p:spPr>
          <a:xfrm>
            <a:off x="793790" y="5951934"/>
            <a:ext cx="5564862"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0D6DE"/>
                </a:solidFill>
                <a:latin typeface="Inter" pitchFamily="34" charset="0"/>
                <a:ea typeface="Inter" pitchFamily="34" charset="-122"/>
                <a:cs typeface="Inter" pitchFamily="34" charset="-120"/>
              </a:rPr>
              <a:t>Administrative overhead reduces productive time</a:t>
            </a:r>
            <a:endParaRPr lang="en-US" sz="1750" dirty="0"/>
          </a:p>
        </p:txBody>
      </p:sp>
      <p:sp>
        <p:nvSpPr>
          <p:cNvPr id="9" name="Text 7"/>
          <p:cNvSpPr/>
          <p:nvPr/>
        </p:nvSpPr>
        <p:spPr>
          <a:xfrm>
            <a:off x="6919674" y="330065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FF8AAF"/>
                </a:solidFill>
                <a:latin typeface="Petrona Bold" pitchFamily="34" charset="0"/>
                <a:ea typeface="Petrona Bold" pitchFamily="34" charset="-122"/>
                <a:cs typeface="Petrona Bold" pitchFamily="34" charset="-120"/>
              </a:rPr>
              <a:t>Modern Solution</a:t>
            </a:r>
            <a:endParaRPr lang="en-US" sz="2300" dirty="0"/>
          </a:p>
        </p:txBody>
      </p:sp>
      <p:sp>
        <p:nvSpPr>
          <p:cNvPr id="10" name="Text 8"/>
          <p:cNvSpPr/>
          <p:nvPr/>
        </p:nvSpPr>
        <p:spPr>
          <a:xfrm>
            <a:off x="6919674" y="3899535"/>
            <a:ext cx="6924437"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This project introduces an automated attendance system using face recognition technology. By leveraging computer vision and machine learning, the system provides a touchless, accurate, and efficient method for tracking attendance in real-time.</a:t>
            </a:r>
            <a:endParaRPr lang="en-US" sz="1750" dirty="0"/>
          </a:p>
        </p:txBody>
      </p:sp>
      <p:pic>
        <p:nvPicPr>
          <p:cNvPr id="11" name="Picture 10">
            <a:extLst>
              <a:ext uri="{FF2B5EF4-FFF2-40B4-BE49-F238E27FC236}">
                <a16:creationId xmlns:a16="http://schemas.microsoft.com/office/drawing/2014/main" id="{1F7CDB18-41C9-E096-708F-A9F1F48634D7}"/>
              </a:ext>
            </a:extLst>
          </p:cNvPr>
          <p:cNvPicPr>
            <a:picLocks noChangeAspect="1"/>
          </p:cNvPicPr>
          <p:nvPr/>
        </p:nvPicPr>
        <p:blipFill>
          <a:blip r:embed="rId3"/>
          <a:stretch>
            <a:fillRect/>
          </a:stretch>
        </p:blipFill>
        <p:spPr>
          <a:xfrm>
            <a:off x="11714680" y="7608796"/>
            <a:ext cx="2798307" cy="6096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93388"/>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FF8AAF"/>
                </a:solidFill>
                <a:latin typeface="Petrona Bold" pitchFamily="34" charset="0"/>
                <a:ea typeface="Petrona Bold" pitchFamily="34" charset="-122"/>
                <a:cs typeface="Petrona Bold" pitchFamily="34" charset="-120"/>
              </a:rPr>
              <a:t>Project Objective</a:t>
            </a:r>
            <a:endParaRPr lang="en-US" sz="4650" dirty="0"/>
          </a:p>
        </p:txBody>
      </p:sp>
      <p:sp>
        <p:nvSpPr>
          <p:cNvPr id="4" name="Shape 1"/>
          <p:cNvSpPr/>
          <p:nvPr/>
        </p:nvSpPr>
        <p:spPr>
          <a:xfrm>
            <a:off x="793790" y="2477810"/>
            <a:ext cx="3664744" cy="2428637"/>
          </a:xfrm>
          <a:prstGeom prst="roundRect">
            <a:avLst>
              <a:gd name="adj" fmla="val 3923"/>
            </a:avLst>
          </a:prstGeom>
          <a:solidFill>
            <a:srgbClr val="2F1D63"/>
          </a:solidFill>
          <a:ln w="7620">
            <a:solidFill>
              <a:srgbClr val="48367C"/>
            </a:solidFill>
            <a:prstDash val="solid"/>
          </a:ln>
        </p:spPr>
      </p:sp>
      <p:sp>
        <p:nvSpPr>
          <p:cNvPr id="5" name="Text 2"/>
          <p:cNvSpPr/>
          <p:nvPr/>
        </p:nvSpPr>
        <p:spPr>
          <a:xfrm>
            <a:off x="1028224" y="271224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Automate Attendance</a:t>
            </a:r>
            <a:endParaRPr lang="en-US" sz="2300" dirty="0"/>
          </a:p>
        </p:txBody>
      </p:sp>
      <p:sp>
        <p:nvSpPr>
          <p:cNvPr id="6" name="Text 3"/>
          <p:cNvSpPr/>
          <p:nvPr/>
        </p:nvSpPr>
        <p:spPr>
          <a:xfrm>
            <a:off x="1028224" y="3220403"/>
            <a:ext cx="3195876"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Replace manual roll calls with instant face recognition, saving time and reducing administrative burden</a:t>
            </a:r>
            <a:endParaRPr lang="en-US" sz="1750" dirty="0"/>
          </a:p>
        </p:txBody>
      </p:sp>
      <p:sp>
        <p:nvSpPr>
          <p:cNvPr id="7" name="Shape 4"/>
          <p:cNvSpPr/>
          <p:nvPr/>
        </p:nvSpPr>
        <p:spPr>
          <a:xfrm>
            <a:off x="4685348" y="2477810"/>
            <a:ext cx="3664863" cy="2428637"/>
          </a:xfrm>
          <a:prstGeom prst="roundRect">
            <a:avLst>
              <a:gd name="adj" fmla="val 3923"/>
            </a:avLst>
          </a:prstGeom>
          <a:solidFill>
            <a:srgbClr val="2F1D63"/>
          </a:solidFill>
          <a:ln w="7620">
            <a:solidFill>
              <a:srgbClr val="48367C"/>
            </a:solidFill>
            <a:prstDash val="solid"/>
          </a:ln>
        </p:spPr>
      </p:sp>
      <p:sp>
        <p:nvSpPr>
          <p:cNvPr id="8" name="Text 5"/>
          <p:cNvSpPr/>
          <p:nvPr/>
        </p:nvSpPr>
        <p:spPr>
          <a:xfrm>
            <a:off x="4919782" y="271224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Ensure Accuracy</a:t>
            </a:r>
            <a:endParaRPr lang="en-US" sz="2300" dirty="0"/>
          </a:p>
        </p:txBody>
      </p:sp>
      <p:sp>
        <p:nvSpPr>
          <p:cNvPr id="9" name="Text 6"/>
          <p:cNvSpPr/>
          <p:nvPr/>
        </p:nvSpPr>
        <p:spPr>
          <a:xfrm>
            <a:off x="4919782" y="3220403"/>
            <a:ext cx="3195995"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Eliminate proxy attendance through biometric verification and maintain reliable attendance records</a:t>
            </a:r>
            <a:endParaRPr lang="en-US" sz="1750" dirty="0"/>
          </a:p>
        </p:txBody>
      </p:sp>
      <p:sp>
        <p:nvSpPr>
          <p:cNvPr id="10" name="Shape 7"/>
          <p:cNvSpPr/>
          <p:nvPr/>
        </p:nvSpPr>
        <p:spPr>
          <a:xfrm>
            <a:off x="793790" y="5133261"/>
            <a:ext cx="7556421" cy="1702832"/>
          </a:xfrm>
          <a:prstGeom prst="roundRect">
            <a:avLst>
              <a:gd name="adj" fmla="val 5595"/>
            </a:avLst>
          </a:prstGeom>
          <a:solidFill>
            <a:srgbClr val="2F1D63"/>
          </a:solidFill>
          <a:ln w="7620">
            <a:solidFill>
              <a:srgbClr val="48367C"/>
            </a:solidFill>
            <a:prstDash val="solid"/>
          </a:ln>
        </p:spPr>
      </p:sp>
      <p:sp>
        <p:nvSpPr>
          <p:cNvPr id="11" name="Text 8"/>
          <p:cNvSpPr/>
          <p:nvPr/>
        </p:nvSpPr>
        <p:spPr>
          <a:xfrm>
            <a:off x="1028224" y="5367695"/>
            <a:ext cx="3196471"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User-Friendly Interface</a:t>
            </a:r>
            <a:endParaRPr lang="en-US" sz="2300" dirty="0"/>
          </a:p>
        </p:txBody>
      </p:sp>
      <p:sp>
        <p:nvSpPr>
          <p:cNvPr id="12" name="Text 9"/>
          <p:cNvSpPr/>
          <p:nvPr/>
        </p:nvSpPr>
        <p:spPr>
          <a:xfrm>
            <a:off x="1028224" y="5875853"/>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Provide an intuitive web-based system accessible to both administrators and end-users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06210"/>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FF8AAF"/>
                </a:solidFill>
                <a:latin typeface="Petrona Bold" pitchFamily="34" charset="0"/>
                <a:ea typeface="Petrona Bold" pitchFamily="34" charset="-122"/>
                <a:cs typeface="Petrona Bold" pitchFamily="34" charset="-120"/>
              </a:rPr>
              <a:t>Why This Project?</a:t>
            </a:r>
            <a:endParaRPr lang="en-US" sz="4650" dirty="0"/>
          </a:p>
        </p:txBody>
      </p:sp>
      <p:sp>
        <p:nvSpPr>
          <p:cNvPr id="3" name="Text 1"/>
          <p:cNvSpPr/>
          <p:nvPr/>
        </p:nvSpPr>
        <p:spPr>
          <a:xfrm>
            <a:off x="793790" y="23040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Petrona Light" pitchFamily="34" charset="0"/>
                <a:ea typeface="Petrona Light" pitchFamily="34" charset="-122"/>
                <a:cs typeface="Petrona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2659142"/>
            <a:ext cx="6407944" cy="30480"/>
          </a:xfrm>
          <a:prstGeom prst="rect">
            <a:avLst/>
          </a:prstGeom>
        </p:spPr>
      </p:pic>
      <p:sp>
        <p:nvSpPr>
          <p:cNvPr id="5" name="Text 2"/>
          <p:cNvSpPr/>
          <p:nvPr/>
        </p:nvSpPr>
        <p:spPr>
          <a:xfrm>
            <a:off x="793790" y="2833449"/>
            <a:ext cx="3214330"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Real-World Application</a:t>
            </a:r>
            <a:endParaRPr lang="en-US" sz="2300" dirty="0"/>
          </a:p>
        </p:txBody>
      </p:sp>
      <p:sp>
        <p:nvSpPr>
          <p:cNvPr id="6" name="Text 3"/>
          <p:cNvSpPr/>
          <p:nvPr/>
        </p:nvSpPr>
        <p:spPr>
          <a:xfrm>
            <a:off x="793790" y="3341608"/>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Addresses a genuine need in educational institutions and corporate environments where attendance tracking is essential</a:t>
            </a:r>
            <a:endParaRPr lang="en-US" sz="1750" dirty="0"/>
          </a:p>
        </p:txBody>
      </p:sp>
      <p:sp>
        <p:nvSpPr>
          <p:cNvPr id="7" name="Text 4"/>
          <p:cNvSpPr/>
          <p:nvPr/>
        </p:nvSpPr>
        <p:spPr>
          <a:xfrm>
            <a:off x="7428548" y="230409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Petrona Light" pitchFamily="34" charset="0"/>
                <a:ea typeface="Petrona Light" pitchFamily="34" charset="-122"/>
                <a:cs typeface="Petrona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2659142"/>
            <a:ext cx="6408063" cy="30480"/>
          </a:xfrm>
          <a:prstGeom prst="rect">
            <a:avLst/>
          </a:prstGeom>
        </p:spPr>
      </p:pic>
      <p:sp>
        <p:nvSpPr>
          <p:cNvPr id="9" name="Text 5"/>
          <p:cNvSpPr/>
          <p:nvPr/>
        </p:nvSpPr>
        <p:spPr>
          <a:xfrm>
            <a:off x="7428548" y="283344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Technical Learning</a:t>
            </a:r>
            <a:endParaRPr lang="en-US" sz="2300" dirty="0"/>
          </a:p>
        </p:txBody>
      </p:sp>
      <p:sp>
        <p:nvSpPr>
          <p:cNvPr id="10" name="Text 6"/>
          <p:cNvSpPr/>
          <p:nvPr/>
        </p:nvSpPr>
        <p:spPr>
          <a:xfrm>
            <a:off x="7428548" y="3341608"/>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Opportunity to work with cutting-edge technologies including computer vision, machine learning algorithms, and web frameworks</a:t>
            </a:r>
            <a:endParaRPr lang="en-US" sz="1750" dirty="0"/>
          </a:p>
        </p:txBody>
      </p:sp>
      <p:sp>
        <p:nvSpPr>
          <p:cNvPr id="11" name="Text 7"/>
          <p:cNvSpPr/>
          <p:nvPr/>
        </p:nvSpPr>
        <p:spPr>
          <a:xfrm>
            <a:off x="793790" y="48271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Petrona Light" pitchFamily="34" charset="0"/>
                <a:ea typeface="Petrona Light" pitchFamily="34" charset="-122"/>
                <a:cs typeface="Petrona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5159454"/>
            <a:ext cx="6407944" cy="30480"/>
          </a:xfrm>
          <a:prstGeom prst="rect">
            <a:avLst/>
          </a:prstGeom>
        </p:spPr>
      </p:pic>
      <p:sp>
        <p:nvSpPr>
          <p:cNvPr id="13" name="Text 8"/>
          <p:cNvSpPr/>
          <p:nvPr/>
        </p:nvSpPr>
        <p:spPr>
          <a:xfrm>
            <a:off x="793790" y="535650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Industry Relevance</a:t>
            </a:r>
            <a:endParaRPr lang="en-US" sz="2300" dirty="0"/>
          </a:p>
        </p:txBody>
      </p:sp>
      <p:sp>
        <p:nvSpPr>
          <p:cNvPr id="14" name="Text 9"/>
          <p:cNvSpPr/>
          <p:nvPr/>
        </p:nvSpPr>
        <p:spPr>
          <a:xfrm>
            <a:off x="793790" y="5864662"/>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Biometric systems are increasingly adopted across industries, making this a valuable skill set for future career opportunities</a:t>
            </a:r>
            <a:endParaRPr lang="en-US" sz="1750" dirty="0"/>
          </a:p>
        </p:txBody>
      </p:sp>
      <p:sp>
        <p:nvSpPr>
          <p:cNvPr id="15" name="Text 10"/>
          <p:cNvSpPr/>
          <p:nvPr/>
        </p:nvSpPr>
        <p:spPr>
          <a:xfrm>
            <a:off x="7428548" y="482715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Petrona Light" pitchFamily="34" charset="0"/>
                <a:ea typeface="Petrona Light" pitchFamily="34" charset="-122"/>
                <a:cs typeface="Petrona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5182195"/>
            <a:ext cx="6408063" cy="30480"/>
          </a:xfrm>
          <a:prstGeom prst="rect">
            <a:avLst/>
          </a:prstGeom>
        </p:spPr>
      </p:pic>
      <p:sp>
        <p:nvSpPr>
          <p:cNvPr id="17" name="Text 11"/>
          <p:cNvSpPr/>
          <p:nvPr/>
        </p:nvSpPr>
        <p:spPr>
          <a:xfrm>
            <a:off x="7428548" y="535650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E0D6DE"/>
                </a:solidFill>
                <a:latin typeface="Petrona Bold" pitchFamily="34" charset="0"/>
                <a:ea typeface="Petrona Bold" pitchFamily="34" charset="-122"/>
                <a:cs typeface="Petrona Bold" pitchFamily="34" charset="-120"/>
              </a:rPr>
              <a:t>Measurable Impact</a:t>
            </a:r>
            <a:endParaRPr lang="en-US" sz="2300" dirty="0"/>
          </a:p>
        </p:txBody>
      </p:sp>
      <p:sp>
        <p:nvSpPr>
          <p:cNvPr id="18" name="Text 12"/>
          <p:cNvSpPr/>
          <p:nvPr/>
        </p:nvSpPr>
        <p:spPr>
          <a:xfrm>
            <a:off x="7428548" y="5864662"/>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Inter" pitchFamily="34" charset="0"/>
                <a:ea typeface="Inter" pitchFamily="34" charset="-122"/>
                <a:cs typeface="Inter" pitchFamily="34" charset="-120"/>
              </a:rPr>
              <a:t>Creates tangible efficiency improvements that can be demonstrated and quantified in real deployment scenarios</a:t>
            </a:r>
            <a:endParaRPr lang="en-US" sz="1750" dirty="0"/>
          </a:p>
        </p:txBody>
      </p:sp>
      <p:pic>
        <p:nvPicPr>
          <p:cNvPr id="19" name="Picture 18">
            <a:extLst>
              <a:ext uri="{FF2B5EF4-FFF2-40B4-BE49-F238E27FC236}">
                <a16:creationId xmlns:a16="http://schemas.microsoft.com/office/drawing/2014/main" id="{70B7C45B-CAA7-EE43-7B80-B2AB31810640}"/>
              </a:ext>
            </a:extLst>
          </p:cNvPr>
          <p:cNvPicPr>
            <a:picLocks noChangeAspect="1"/>
          </p:cNvPicPr>
          <p:nvPr/>
        </p:nvPicPr>
        <p:blipFill>
          <a:blip r:embed="rId4"/>
          <a:stretch>
            <a:fillRect/>
          </a:stretch>
        </p:blipFill>
        <p:spPr>
          <a:xfrm>
            <a:off x="12550808" y="7716644"/>
            <a:ext cx="1962179" cy="4274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6622" y="1020366"/>
            <a:ext cx="6165294" cy="559356"/>
          </a:xfrm>
          <a:prstGeom prst="rect">
            <a:avLst/>
          </a:prstGeom>
          <a:noFill/>
          <a:ln/>
        </p:spPr>
        <p:txBody>
          <a:bodyPr wrap="none" lIns="0" tIns="0" rIns="0" bIns="0" rtlCol="0" anchor="t"/>
          <a:lstStyle/>
          <a:p>
            <a:pPr marL="0" indent="0" algn="l">
              <a:lnSpc>
                <a:spcPts val="4400"/>
              </a:lnSpc>
              <a:buNone/>
            </a:pPr>
            <a:r>
              <a:rPr lang="en-US" sz="3500" b="1" dirty="0">
                <a:solidFill>
                  <a:srgbClr val="FF8AAF"/>
                </a:solidFill>
                <a:latin typeface="Petrona Bold" pitchFamily="34" charset="0"/>
                <a:ea typeface="Petrona Bold" pitchFamily="34" charset="-122"/>
                <a:cs typeface="Petrona Bold" pitchFamily="34" charset="-120"/>
              </a:rPr>
              <a:t>System Architecture Overview</a:t>
            </a:r>
            <a:endParaRPr lang="en-US" sz="3500" dirty="0"/>
          </a:p>
        </p:txBody>
      </p:sp>
      <p:sp>
        <p:nvSpPr>
          <p:cNvPr id="4" name="Text 1"/>
          <p:cNvSpPr/>
          <p:nvPr/>
        </p:nvSpPr>
        <p:spPr>
          <a:xfrm>
            <a:off x="596622" y="1835348"/>
            <a:ext cx="7950756" cy="1091089"/>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The system operates through four integrated components working seamlessly together. The camera captures live video, OpenCV processes facial features, the LBPH algorithm performs recognition, and Streamlit provides the user interface. All attendance records are automatically logged with timestamps into CSV files for easy access and reporting.</a:t>
            </a:r>
            <a:endParaRPr lang="en-US" sz="1300" dirty="0"/>
          </a:p>
        </p:txBody>
      </p:sp>
      <p:pic>
        <p:nvPicPr>
          <p:cNvPr id="5" name="Image 1" descr="preencoded.png"/>
          <p:cNvPicPr>
            <a:picLocks noChangeAspect="1"/>
          </p:cNvPicPr>
          <p:nvPr/>
        </p:nvPicPr>
        <p:blipFill>
          <a:blip r:embed="rId4"/>
          <a:stretch>
            <a:fillRect/>
          </a:stretch>
        </p:blipFill>
        <p:spPr>
          <a:xfrm>
            <a:off x="596622" y="3118128"/>
            <a:ext cx="852368" cy="1022747"/>
          </a:xfrm>
          <a:prstGeom prst="rect">
            <a:avLst/>
          </a:prstGeom>
        </p:spPr>
      </p:pic>
      <p:sp>
        <p:nvSpPr>
          <p:cNvPr id="6" name="Text 2"/>
          <p:cNvSpPr/>
          <p:nvPr/>
        </p:nvSpPr>
        <p:spPr>
          <a:xfrm>
            <a:off x="1619369" y="3288506"/>
            <a:ext cx="2237423" cy="279559"/>
          </a:xfrm>
          <a:prstGeom prst="rect">
            <a:avLst/>
          </a:prstGeom>
          <a:noFill/>
          <a:ln/>
        </p:spPr>
        <p:txBody>
          <a:bodyPr wrap="none" lIns="0" tIns="0" rIns="0" bIns="0" rtlCol="0" anchor="t"/>
          <a:lstStyle/>
          <a:p>
            <a:pPr marL="0" indent="0" algn="l">
              <a:lnSpc>
                <a:spcPts val="2200"/>
              </a:lnSpc>
              <a:buNone/>
            </a:pPr>
            <a:r>
              <a:rPr lang="en-US" sz="1750" b="1" dirty="0">
                <a:solidFill>
                  <a:srgbClr val="E0D6DE"/>
                </a:solidFill>
                <a:latin typeface="Petrona Bold" pitchFamily="34" charset="0"/>
                <a:ea typeface="Petrona Bold" pitchFamily="34" charset="-122"/>
                <a:cs typeface="Petrona Bold" pitchFamily="34" charset="-120"/>
              </a:rPr>
              <a:t>Video Capture</a:t>
            </a:r>
            <a:endParaRPr lang="en-US" sz="1750" dirty="0"/>
          </a:p>
        </p:txBody>
      </p:sp>
      <p:sp>
        <p:nvSpPr>
          <p:cNvPr id="7" name="Text 3"/>
          <p:cNvSpPr/>
          <p:nvPr/>
        </p:nvSpPr>
        <p:spPr>
          <a:xfrm>
            <a:off x="1619369" y="3670340"/>
            <a:ext cx="6928009" cy="272772"/>
          </a:xfrm>
          <a:prstGeom prst="rect">
            <a:avLst/>
          </a:prstGeom>
          <a:noFill/>
          <a:ln/>
        </p:spPr>
        <p:txBody>
          <a:bodyPr wrap="non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Live camera feed</a:t>
            </a:r>
            <a:endParaRPr lang="en-US" sz="1300" dirty="0"/>
          </a:p>
        </p:txBody>
      </p:sp>
      <p:pic>
        <p:nvPicPr>
          <p:cNvPr id="8" name="Image 2" descr="preencoded.png"/>
          <p:cNvPicPr>
            <a:picLocks noChangeAspect="1"/>
          </p:cNvPicPr>
          <p:nvPr/>
        </p:nvPicPr>
        <p:blipFill>
          <a:blip r:embed="rId5"/>
          <a:stretch>
            <a:fillRect/>
          </a:stretch>
        </p:blipFill>
        <p:spPr>
          <a:xfrm>
            <a:off x="596622" y="4140875"/>
            <a:ext cx="852368" cy="1022747"/>
          </a:xfrm>
          <a:prstGeom prst="rect">
            <a:avLst/>
          </a:prstGeom>
        </p:spPr>
      </p:pic>
      <p:sp>
        <p:nvSpPr>
          <p:cNvPr id="9" name="Text 4"/>
          <p:cNvSpPr/>
          <p:nvPr/>
        </p:nvSpPr>
        <p:spPr>
          <a:xfrm>
            <a:off x="1619369" y="4311253"/>
            <a:ext cx="2237423" cy="279559"/>
          </a:xfrm>
          <a:prstGeom prst="rect">
            <a:avLst/>
          </a:prstGeom>
          <a:noFill/>
          <a:ln/>
        </p:spPr>
        <p:txBody>
          <a:bodyPr wrap="none" lIns="0" tIns="0" rIns="0" bIns="0" rtlCol="0" anchor="t"/>
          <a:lstStyle/>
          <a:p>
            <a:pPr marL="0" indent="0" algn="l">
              <a:lnSpc>
                <a:spcPts val="2200"/>
              </a:lnSpc>
              <a:buNone/>
            </a:pPr>
            <a:r>
              <a:rPr lang="en-US" sz="1750" b="1" dirty="0">
                <a:solidFill>
                  <a:srgbClr val="E0D6DE"/>
                </a:solidFill>
                <a:latin typeface="Petrona Bold" pitchFamily="34" charset="0"/>
                <a:ea typeface="Petrona Bold" pitchFamily="34" charset="-122"/>
                <a:cs typeface="Petrona Bold" pitchFamily="34" charset="-120"/>
              </a:rPr>
              <a:t>Face Detection</a:t>
            </a:r>
            <a:endParaRPr lang="en-US" sz="1750" dirty="0"/>
          </a:p>
        </p:txBody>
      </p:sp>
      <p:sp>
        <p:nvSpPr>
          <p:cNvPr id="10" name="Text 5"/>
          <p:cNvSpPr/>
          <p:nvPr/>
        </p:nvSpPr>
        <p:spPr>
          <a:xfrm>
            <a:off x="1619369" y="4693087"/>
            <a:ext cx="6928009" cy="272772"/>
          </a:xfrm>
          <a:prstGeom prst="rect">
            <a:avLst/>
          </a:prstGeom>
          <a:noFill/>
          <a:ln/>
        </p:spPr>
        <p:txBody>
          <a:bodyPr wrap="non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Haar Cascade</a:t>
            </a:r>
            <a:endParaRPr lang="en-US" sz="1300" dirty="0"/>
          </a:p>
        </p:txBody>
      </p:sp>
      <p:pic>
        <p:nvPicPr>
          <p:cNvPr id="11" name="Image 3" descr="preencoded.png"/>
          <p:cNvPicPr>
            <a:picLocks noChangeAspect="1"/>
          </p:cNvPicPr>
          <p:nvPr/>
        </p:nvPicPr>
        <p:blipFill>
          <a:blip r:embed="rId6"/>
          <a:stretch>
            <a:fillRect/>
          </a:stretch>
        </p:blipFill>
        <p:spPr>
          <a:xfrm>
            <a:off x="596622" y="5163622"/>
            <a:ext cx="852368" cy="1022747"/>
          </a:xfrm>
          <a:prstGeom prst="rect">
            <a:avLst/>
          </a:prstGeom>
        </p:spPr>
      </p:pic>
      <p:sp>
        <p:nvSpPr>
          <p:cNvPr id="12" name="Text 6"/>
          <p:cNvSpPr/>
          <p:nvPr/>
        </p:nvSpPr>
        <p:spPr>
          <a:xfrm>
            <a:off x="1619369" y="5334000"/>
            <a:ext cx="2237423" cy="279559"/>
          </a:xfrm>
          <a:prstGeom prst="rect">
            <a:avLst/>
          </a:prstGeom>
          <a:noFill/>
          <a:ln/>
        </p:spPr>
        <p:txBody>
          <a:bodyPr wrap="none" lIns="0" tIns="0" rIns="0" bIns="0" rtlCol="0" anchor="t"/>
          <a:lstStyle/>
          <a:p>
            <a:pPr marL="0" indent="0" algn="l">
              <a:lnSpc>
                <a:spcPts val="2200"/>
              </a:lnSpc>
              <a:buNone/>
            </a:pPr>
            <a:r>
              <a:rPr lang="en-US" sz="1750" b="1" dirty="0">
                <a:solidFill>
                  <a:srgbClr val="E0D6DE"/>
                </a:solidFill>
                <a:latin typeface="Petrona Bold" pitchFamily="34" charset="0"/>
                <a:ea typeface="Petrona Bold" pitchFamily="34" charset="-122"/>
                <a:cs typeface="Petrona Bold" pitchFamily="34" charset="-120"/>
              </a:rPr>
              <a:t>Recognition</a:t>
            </a:r>
            <a:endParaRPr lang="en-US" sz="1750" dirty="0"/>
          </a:p>
        </p:txBody>
      </p:sp>
      <p:sp>
        <p:nvSpPr>
          <p:cNvPr id="13" name="Text 7"/>
          <p:cNvSpPr/>
          <p:nvPr/>
        </p:nvSpPr>
        <p:spPr>
          <a:xfrm>
            <a:off x="1619369" y="5715833"/>
            <a:ext cx="6928009" cy="272772"/>
          </a:xfrm>
          <a:prstGeom prst="rect">
            <a:avLst/>
          </a:prstGeom>
          <a:noFill/>
          <a:ln/>
        </p:spPr>
        <p:txBody>
          <a:bodyPr wrap="non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LBPH Algorithm</a:t>
            </a:r>
            <a:endParaRPr lang="en-US" sz="1300" dirty="0"/>
          </a:p>
        </p:txBody>
      </p:sp>
      <p:pic>
        <p:nvPicPr>
          <p:cNvPr id="14" name="Image 4" descr="preencoded.png"/>
          <p:cNvPicPr>
            <a:picLocks noChangeAspect="1"/>
          </p:cNvPicPr>
          <p:nvPr/>
        </p:nvPicPr>
        <p:blipFill>
          <a:blip r:embed="rId7"/>
          <a:stretch>
            <a:fillRect/>
          </a:stretch>
        </p:blipFill>
        <p:spPr>
          <a:xfrm>
            <a:off x="596622" y="6186368"/>
            <a:ext cx="852368" cy="1022747"/>
          </a:xfrm>
          <a:prstGeom prst="rect">
            <a:avLst/>
          </a:prstGeom>
        </p:spPr>
      </p:pic>
      <p:sp>
        <p:nvSpPr>
          <p:cNvPr id="15" name="Text 8"/>
          <p:cNvSpPr/>
          <p:nvPr/>
        </p:nvSpPr>
        <p:spPr>
          <a:xfrm>
            <a:off x="1619369" y="6356747"/>
            <a:ext cx="2237423" cy="279559"/>
          </a:xfrm>
          <a:prstGeom prst="rect">
            <a:avLst/>
          </a:prstGeom>
          <a:noFill/>
          <a:ln/>
        </p:spPr>
        <p:txBody>
          <a:bodyPr wrap="none" lIns="0" tIns="0" rIns="0" bIns="0" rtlCol="0" anchor="t"/>
          <a:lstStyle/>
          <a:p>
            <a:pPr marL="0" indent="0" algn="l">
              <a:lnSpc>
                <a:spcPts val="2200"/>
              </a:lnSpc>
              <a:buNone/>
            </a:pPr>
            <a:r>
              <a:rPr lang="en-US" sz="1750" b="1" dirty="0">
                <a:solidFill>
                  <a:srgbClr val="E0D6DE"/>
                </a:solidFill>
                <a:latin typeface="Petrona Bold" pitchFamily="34" charset="0"/>
                <a:ea typeface="Petrona Bold" pitchFamily="34" charset="-122"/>
                <a:cs typeface="Petrona Bold" pitchFamily="34" charset="-120"/>
              </a:rPr>
              <a:t>Logging</a:t>
            </a:r>
            <a:endParaRPr lang="en-US" sz="1750" dirty="0"/>
          </a:p>
        </p:txBody>
      </p:sp>
      <p:sp>
        <p:nvSpPr>
          <p:cNvPr id="16" name="Text 9"/>
          <p:cNvSpPr/>
          <p:nvPr/>
        </p:nvSpPr>
        <p:spPr>
          <a:xfrm>
            <a:off x="1619369" y="6738580"/>
            <a:ext cx="6928009" cy="272772"/>
          </a:xfrm>
          <a:prstGeom prst="rect">
            <a:avLst/>
          </a:prstGeom>
          <a:noFill/>
          <a:ln/>
        </p:spPr>
        <p:txBody>
          <a:bodyPr wrap="non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CSV Records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1045" y="583763"/>
            <a:ext cx="5557957" cy="694730"/>
          </a:xfrm>
          <a:prstGeom prst="rect">
            <a:avLst/>
          </a:prstGeom>
          <a:noFill/>
          <a:ln/>
        </p:spPr>
        <p:txBody>
          <a:bodyPr wrap="none" lIns="0" tIns="0" rIns="0" bIns="0" rtlCol="0" anchor="t"/>
          <a:lstStyle/>
          <a:p>
            <a:pPr marL="0" indent="0" algn="l">
              <a:lnSpc>
                <a:spcPts val="5450"/>
              </a:lnSpc>
              <a:buNone/>
            </a:pPr>
            <a:r>
              <a:rPr lang="en-US" sz="4350" b="1" dirty="0">
                <a:solidFill>
                  <a:srgbClr val="FF8AAF"/>
                </a:solidFill>
                <a:latin typeface="Petrona Bold" pitchFamily="34" charset="0"/>
                <a:ea typeface="Petrona Bold" pitchFamily="34" charset="-122"/>
                <a:cs typeface="Petrona Bold" pitchFamily="34" charset="-120"/>
              </a:rPr>
              <a:t>System Workflow</a:t>
            </a:r>
            <a:endParaRPr lang="en-US" sz="4350" dirty="0"/>
          </a:p>
        </p:txBody>
      </p:sp>
      <p:sp>
        <p:nvSpPr>
          <p:cNvPr id="3" name="Shape 1"/>
          <p:cNvSpPr/>
          <p:nvPr/>
        </p:nvSpPr>
        <p:spPr>
          <a:xfrm>
            <a:off x="1058585" y="2231112"/>
            <a:ext cx="6150650" cy="211693"/>
          </a:xfrm>
          <a:prstGeom prst="roundRect">
            <a:avLst>
              <a:gd name="adj" fmla="val 42008"/>
            </a:avLst>
          </a:prstGeom>
          <a:solidFill>
            <a:srgbClr val="2F1D63"/>
          </a:solidFill>
          <a:ln w="7620">
            <a:solidFill>
              <a:srgbClr val="48367C"/>
            </a:solidFill>
            <a:prstDash val="solid"/>
          </a:ln>
        </p:spPr>
      </p:sp>
      <p:sp>
        <p:nvSpPr>
          <p:cNvPr id="4" name="Shape 2"/>
          <p:cNvSpPr/>
          <p:nvPr/>
        </p:nvSpPr>
        <p:spPr>
          <a:xfrm>
            <a:off x="741045" y="2019419"/>
            <a:ext cx="635079" cy="635079"/>
          </a:xfrm>
          <a:prstGeom prst="roundRect">
            <a:avLst>
              <a:gd name="adj" fmla="val 71991"/>
            </a:avLst>
          </a:prstGeom>
          <a:solidFill>
            <a:srgbClr val="2F1D63"/>
          </a:solidFill>
          <a:ln w="7620">
            <a:solidFill>
              <a:srgbClr val="48367C"/>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755" y="2178129"/>
            <a:ext cx="317540" cy="317540"/>
          </a:xfrm>
          <a:prstGeom prst="rect">
            <a:avLst/>
          </a:prstGeom>
        </p:spPr>
      </p:pic>
      <p:sp>
        <p:nvSpPr>
          <p:cNvPr id="6" name="Text 3"/>
          <p:cNvSpPr/>
          <p:nvPr/>
        </p:nvSpPr>
        <p:spPr>
          <a:xfrm>
            <a:off x="952738" y="2866192"/>
            <a:ext cx="2778919" cy="347305"/>
          </a:xfrm>
          <a:prstGeom prst="rect">
            <a:avLst/>
          </a:prstGeom>
          <a:noFill/>
          <a:ln/>
        </p:spPr>
        <p:txBody>
          <a:bodyPr wrap="none" lIns="0" tIns="0" rIns="0" bIns="0" rtlCol="0" anchor="t"/>
          <a:lstStyle/>
          <a:p>
            <a:pPr marL="0" indent="0" algn="l">
              <a:lnSpc>
                <a:spcPts val="2700"/>
              </a:lnSpc>
              <a:buNone/>
            </a:pPr>
            <a:r>
              <a:rPr lang="en-US" sz="2150" b="1" dirty="0">
                <a:solidFill>
                  <a:srgbClr val="E0D6DE"/>
                </a:solidFill>
                <a:latin typeface="Petrona Bold" pitchFamily="34" charset="0"/>
                <a:ea typeface="Petrona Bold" pitchFamily="34" charset="-122"/>
                <a:cs typeface="Petrona Bold" pitchFamily="34" charset="-120"/>
              </a:rPr>
              <a:t>Registration Phase</a:t>
            </a:r>
            <a:endParaRPr lang="en-US" sz="2150" dirty="0"/>
          </a:p>
        </p:txBody>
      </p:sp>
      <p:sp>
        <p:nvSpPr>
          <p:cNvPr id="7" name="Text 4"/>
          <p:cNvSpPr/>
          <p:nvPr/>
        </p:nvSpPr>
        <p:spPr>
          <a:xfrm>
            <a:off x="952738" y="3340418"/>
            <a:ext cx="6044922" cy="1015841"/>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Inter" pitchFamily="34" charset="0"/>
                <a:ea typeface="Inter" pitchFamily="34" charset="-122"/>
                <a:cs typeface="Inter" pitchFamily="34" charset="-120"/>
              </a:rPr>
              <a:t>New users register by entering their details and capturing multiple facial images from different angles to build a robust dataset</a:t>
            </a:r>
            <a:endParaRPr lang="en-US" sz="1650" dirty="0"/>
          </a:p>
        </p:txBody>
      </p:sp>
      <p:sp>
        <p:nvSpPr>
          <p:cNvPr id="8" name="Shape 5"/>
          <p:cNvSpPr/>
          <p:nvPr/>
        </p:nvSpPr>
        <p:spPr>
          <a:xfrm>
            <a:off x="7738586" y="1913572"/>
            <a:ext cx="6150650" cy="211693"/>
          </a:xfrm>
          <a:prstGeom prst="roundRect">
            <a:avLst>
              <a:gd name="adj" fmla="val 42008"/>
            </a:avLst>
          </a:prstGeom>
          <a:solidFill>
            <a:srgbClr val="2F1D63"/>
          </a:solidFill>
          <a:ln w="7620">
            <a:solidFill>
              <a:srgbClr val="48367C"/>
            </a:solidFill>
            <a:prstDash val="solid"/>
          </a:ln>
        </p:spPr>
      </p:sp>
      <p:sp>
        <p:nvSpPr>
          <p:cNvPr id="9" name="Shape 6"/>
          <p:cNvSpPr/>
          <p:nvPr/>
        </p:nvSpPr>
        <p:spPr>
          <a:xfrm>
            <a:off x="7421047" y="1701879"/>
            <a:ext cx="635079" cy="635079"/>
          </a:xfrm>
          <a:prstGeom prst="roundRect">
            <a:avLst>
              <a:gd name="adj" fmla="val 71991"/>
            </a:avLst>
          </a:prstGeom>
          <a:solidFill>
            <a:srgbClr val="2F1D63"/>
          </a:solidFill>
          <a:ln w="7620">
            <a:solidFill>
              <a:srgbClr val="48367C"/>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79757" y="1860590"/>
            <a:ext cx="317540" cy="317540"/>
          </a:xfrm>
          <a:prstGeom prst="rect">
            <a:avLst/>
          </a:prstGeom>
        </p:spPr>
      </p:pic>
      <p:sp>
        <p:nvSpPr>
          <p:cNvPr id="11" name="Text 7"/>
          <p:cNvSpPr/>
          <p:nvPr/>
        </p:nvSpPr>
        <p:spPr>
          <a:xfrm>
            <a:off x="7632740" y="2548652"/>
            <a:ext cx="2778919" cy="347305"/>
          </a:xfrm>
          <a:prstGeom prst="rect">
            <a:avLst/>
          </a:prstGeom>
          <a:noFill/>
          <a:ln/>
        </p:spPr>
        <p:txBody>
          <a:bodyPr wrap="none" lIns="0" tIns="0" rIns="0" bIns="0" rtlCol="0" anchor="t"/>
          <a:lstStyle/>
          <a:p>
            <a:pPr marL="0" indent="0" algn="l">
              <a:lnSpc>
                <a:spcPts val="2700"/>
              </a:lnSpc>
              <a:buNone/>
            </a:pPr>
            <a:r>
              <a:rPr lang="en-US" sz="2150" b="1" dirty="0">
                <a:solidFill>
                  <a:srgbClr val="E0D6DE"/>
                </a:solidFill>
                <a:latin typeface="Petrona Bold" pitchFamily="34" charset="0"/>
                <a:ea typeface="Petrona Bold" pitchFamily="34" charset="-122"/>
                <a:cs typeface="Petrona Bold" pitchFamily="34" charset="-120"/>
              </a:rPr>
              <a:t>Training Phase</a:t>
            </a:r>
            <a:endParaRPr lang="en-US" sz="2150" dirty="0"/>
          </a:p>
        </p:txBody>
      </p:sp>
      <p:sp>
        <p:nvSpPr>
          <p:cNvPr id="12" name="Text 8"/>
          <p:cNvSpPr/>
          <p:nvPr/>
        </p:nvSpPr>
        <p:spPr>
          <a:xfrm>
            <a:off x="7632740" y="3022878"/>
            <a:ext cx="6044922" cy="1015841"/>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Inter" pitchFamily="34" charset="0"/>
                <a:ea typeface="Inter" pitchFamily="34" charset="-122"/>
                <a:cs typeface="Inter" pitchFamily="34" charset="-120"/>
              </a:rPr>
              <a:t>The LBPH algorithm processes collected images to create a recognition model that learns unique facial patterns for each registered user</a:t>
            </a:r>
            <a:endParaRPr lang="en-US" sz="1650" dirty="0"/>
          </a:p>
        </p:txBody>
      </p:sp>
      <p:sp>
        <p:nvSpPr>
          <p:cNvPr id="13" name="Shape 9"/>
          <p:cNvSpPr/>
          <p:nvPr/>
        </p:nvSpPr>
        <p:spPr>
          <a:xfrm>
            <a:off x="1058585" y="5308878"/>
            <a:ext cx="6150650" cy="211693"/>
          </a:xfrm>
          <a:prstGeom prst="roundRect">
            <a:avLst>
              <a:gd name="adj" fmla="val 42008"/>
            </a:avLst>
          </a:prstGeom>
          <a:solidFill>
            <a:srgbClr val="2F1D63"/>
          </a:solidFill>
          <a:ln w="7620">
            <a:solidFill>
              <a:srgbClr val="48367C"/>
            </a:solidFill>
            <a:prstDash val="solid"/>
          </a:ln>
        </p:spPr>
      </p:sp>
      <p:sp>
        <p:nvSpPr>
          <p:cNvPr id="14" name="Shape 10"/>
          <p:cNvSpPr/>
          <p:nvPr/>
        </p:nvSpPr>
        <p:spPr>
          <a:xfrm>
            <a:off x="741045" y="5097185"/>
            <a:ext cx="635079" cy="635079"/>
          </a:xfrm>
          <a:prstGeom prst="roundRect">
            <a:avLst>
              <a:gd name="adj" fmla="val 71991"/>
            </a:avLst>
          </a:prstGeom>
          <a:solidFill>
            <a:srgbClr val="2F1D63"/>
          </a:solidFill>
          <a:ln w="7620">
            <a:solidFill>
              <a:srgbClr val="48367C"/>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9755" y="5255895"/>
            <a:ext cx="317540" cy="317540"/>
          </a:xfrm>
          <a:prstGeom prst="rect">
            <a:avLst/>
          </a:prstGeom>
        </p:spPr>
      </p:pic>
      <p:sp>
        <p:nvSpPr>
          <p:cNvPr id="16" name="Text 11"/>
          <p:cNvSpPr/>
          <p:nvPr/>
        </p:nvSpPr>
        <p:spPr>
          <a:xfrm>
            <a:off x="952738" y="5943957"/>
            <a:ext cx="2778919" cy="347305"/>
          </a:xfrm>
          <a:prstGeom prst="rect">
            <a:avLst/>
          </a:prstGeom>
          <a:noFill/>
          <a:ln/>
        </p:spPr>
        <p:txBody>
          <a:bodyPr wrap="none" lIns="0" tIns="0" rIns="0" bIns="0" rtlCol="0" anchor="t"/>
          <a:lstStyle/>
          <a:p>
            <a:pPr marL="0" indent="0" algn="l">
              <a:lnSpc>
                <a:spcPts val="2700"/>
              </a:lnSpc>
              <a:buNone/>
            </a:pPr>
            <a:r>
              <a:rPr lang="en-US" sz="2150" b="1" dirty="0">
                <a:solidFill>
                  <a:srgbClr val="E0D6DE"/>
                </a:solidFill>
                <a:latin typeface="Petrona Bold" pitchFamily="34" charset="0"/>
                <a:ea typeface="Petrona Bold" pitchFamily="34" charset="-122"/>
                <a:cs typeface="Petrona Bold" pitchFamily="34" charset="-120"/>
              </a:rPr>
              <a:t>Recognition Phase</a:t>
            </a:r>
            <a:endParaRPr lang="en-US" sz="2150" dirty="0"/>
          </a:p>
        </p:txBody>
      </p:sp>
      <p:sp>
        <p:nvSpPr>
          <p:cNvPr id="17" name="Text 12"/>
          <p:cNvSpPr/>
          <p:nvPr/>
        </p:nvSpPr>
        <p:spPr>
          <a:xfrm>
            <a:off x="952738" y="6418183"/>
            <a:ext cx="6044922" cy="1015841"/>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Inter" pitchFamily="34" charset="0"/>
                <a:ea typeface="Inter" pitchFamily="34" charset="-122"/>
                <a:cs typeface="Inter" pitchFamily="34" charset="-120"/>
              </a:rPr>
              <a:t>System continuously monitors the camera feed, detects faces using Haar Cascade, and matches them against the trained model in real-time</a:t>
            </a:r>
            <a:endParaRPr lang="en-US" sz="1650" dirty="0"/>
          </a:p>
        </p:txBody>
      </p:sp>
      <p:sp>
        <p:nvSpPr>
          <p:cNvPr id="18" name="Shape 13"/>
          <p:cNvSpPr/>
          <p:nvPr/>
        </p:nvSpPr>
        <p:spPr>
          <a:xfrm>
            <a:off x="7738586" y="4991338"/>
            <a:ext cx="6150650" cy="211693"/>
          </a:xfrm>
          <a:prstGeom prst="roundRect">
            <a:avLst>
              <a:gd name="adj" fmla="val 42008"/>
            </a:avLst>
          </a:prstGeom>
          <a:solidFill>
            <a:srgbClr val="2F1D63"/>
          </a:solidFill>
          <a:ln w="7620">
            <a:solidFill>
              <a:srgbClr val="48367C"/>
            </a:solidFill>
            <a:prstDash val="solid"/>
          </a:ln>
        </p:spPr>
      </p:sp>
      <p:sp>
        <p:nvSpPr>
          <p:cNvPr id="19" name="Shape 14"/>
          <p:cNvSpPr/>
          <p:nvPr/>
        </p:nvSpPr>
        <p:spPr>
          <a:xfrm>
            <a:off x="7421047" y="4779645"/>
            <a:ext cx="635079" cy="635079"/>
          </a:xfrm>
          <a:prstGeom prst="roundRect">
            <a:avLst>
              <a:gd name="adj" fmla="val 71991"/>
            </a:avLst>
          </a:prstGeom>
          <a:solidFill>
            <a:srgbClr val="2F1D63"/>
          </a:solidFill>
          <a:ln w="7620">
            <a:solidFill>
              <a:srgbClr val="48367C"/>
            </a:solidFill>
            <a:prstDash val="solid"/>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79757" y="4938355"/>
            <a:ext cx="317540" cy="317540"/>
          </a:xfrm>
          <a:prstGeom prst="rect">
            <a:avLst/>
          </a:prstGeom>
        </p:spPr>
      </p:pic>
      <p:sp>
        <p:nvSpPr>
          <p:cNvPr id="21" name="Text 15"/>
          <p:cNvSpPr/>
          <p:nvPr/>
        </p:nvSpPr>
        <p:spPr>
          <a:xfrm>
            <a:off x="7632740" y="5626418"/>
            <a:ext cx="2778919" cy="347305"/>
          </a:xfrm>
          <a:prstGeom prst="rect">
            <a:avLst/>
          </a:prstGeom>
          <a:noFill/>
          <a:ln/>
        </p:spPr>
        <p:txBody>
          <a:bodyPr wrap="none" lIns="0" tIns="0" rIns="0" bIns="0" rtlCol="0" anchor="t"/>
          <a:lstStyle/>
          <a:p>
            <a:pPr marL="0" indent="0" algn="l">
              <a:lnSpc>
                <a:spcPts val="2700"/>
              </a:lnSpc>
              <a:buNone/>
            </a:pPr>
            <a:r>
              <a:rPr lang="en-US" sz="2150" b="1" dirty="0">
                <a:solidFill>
                  <a:srgbClr val="E0D6DE"/>
                </a:solidFill>
                <a:latin typeface="Petrona Bold" pitchFamily="34" charset="0"/>
                <a:ea typeface="Petrona Bold" pitchFamily="34" charset="-122"/>
                <a:cs typeface="Petrona Bold" pitchFamily="34" charset="-120"/>
              </a:rPr>
              <a:t>Attendance Logging</a:t>
            </a:r>
            <a:endParaRPr lang="en-US" sz="2150" dirty="0"/>
          </a:p>
        </p:txBody>
      </p:sp>
      <p:sp>
        <p:nvSpPr>
          <p:cNvPr id="22" name="Text 16"/>
          <p:cNvSpPr/>
          <p:nvPr/>
        </p:nvSpPr>
        <p:spPr>
          <a:xfrm>
            <a:off x="7632740" y="6100643"/>
            <a:ext cx="6044922" cy="1015841"/>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Inter" pitchFamily="34" charset="0"/>
                <a:ea typeface="Inter" pitchFamily="34" charset="-122"/>
                <a:cs typeface="Inter" pitchFamily="34" charset="-120"/>
              </a:rPr>
              <a:t>Recognized individuals are automatically marked present with precise timestamps, and data is instantly saved to CSV files for record-keeping</a:t>
            </a:r>
            <a:endParaRPr lang="en-US" sz="1650" dirty="0"/>
          </a:p>
        </p:txBody>
      </p:sp>
      <p:pic>
        <p:nvPicPr>
          <p:cNvPr id="23" name="Picture 22">
            <a:extLst>
              <a:ext uri="{FF2B5EF4-FFF2-40B4-BE49-F238E27FC236}">
                <a16:creationId xmlns:a16="http://schemas.microsoft.com/office/drawing/2014/main" id="{0AFE53E7-2B5C-F046-5F72-F2C601012AE3}"/>
              </a:ext>
            </a:extLst>
          </p:cNvPr>
          <p:cNvPicPr>
            <a:picLocks noChangeAspect="1"/>
          </p:cNvPicPr>
          <p:nvPr/>
        </p:nvPicPr>
        <p:blipFill>
          <a:blip r:embed="rId11"/>
          <a:stretch>
            <a:fillRect/>
          </a:stretch>
        </p:blipFill>
        <p:spPr>
          <a:xfrm>
            <a:off x="12583035" y="7772400"/>
            <a:ext cx="2047365" cy="446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964888" y="600551"/>
            <a:ext cx="8025527" cy="555069"/>
          </a:xfrm>
          <a:prstGeom prst="rect">
            <a:avLst/>
          </a:prstGeom>
          <a:noFill/>
          <a:ln/>
        </p:spPr>
        <p:txBody>
          <a:bodyPr wrap="none" lIns="0" tIns="0" rIns="0" bIns="0" rtlCol="0" anchor="t"/>
          <a:lstStyle/>
          <a:p>
            <a:pPr marL="0" indent="0" algn="l">
              <a:lnSpc>
                <a:spcPts val="4350"/>
              </a:lnSpc>
              <a:buNone/>
            </a:pPr>
            <a:r>
              <a:rPr lang="en-US" sz="3450" b="1" dirty="0">
                <a:solidFill>
                  <a:srgbClr val="FF8AAF"/>
                </a:solidFill>
                <a:latin typeface="Petrona Bold" pitchFamily="34" charset="0"/>
                <a:ea typeface="Petrona Bold" pitchFamily="34" charset="-122"/>
                <a:cs typeface="Petrona Bold" pitchFamily="34" charset="-120"/>
              </a:rPr>
              <a:t>Core Technologies Powering the System</a:t>
            </a:r>
            <a:endParaRPr lang="en-US" sz="3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64888" y="1493877"/>
            <a:ext cx="507444" cy="507444"/>
          </a:xfrm>
          <a:prstGeom prst="rect">
            <a:avLst/>
          </a:prstGeom>
        </p:spPr>
      </p:pic>
      <p:sp>
        <p:nvSpPr>
          <p:cNvPr id="4" name="Text 1"/>
          <p:cNvSpPr/>
          <p:nvPr/>
        </p:nvSpPr>
        <p:spPr>
          <a:xfrm>
            <a:off x="1964888" y="2212777"/>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Python</a:t>
            </a:r>
            <a:endParaRPr lang="en-US" sz="1700" dirty="0"/>
          </a:p>
        </p:txBody>
      </p:sp>
      <p:sp>
        <p:nvSpPr>
          <p:cNvPr id="5" name="Text 2"/>
          <p:cNvSpPr/>
          <p:nvPr/>
        </p:nvSpPr>
        <p:spPr>
          <a:xfrm>
            <a:off x="1964888" y="2591753"/>
            <a:ext cx="5244584" cy="811887"/>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Primary programming language providing the foundation for all system components with its extensive libraries and ease of implementation</a:t>
            </a:r>
            <a:endParaRPr lang="en-US" sz="130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20928" y="1493877"/>
            <a:ext cx="507444" cy="507444"/>
          </a:xfrm>
          <a:prstGeom prst="rect">
            <a:avLst/>
          </a:prstGeom>
        </p:spPr>
      </p:pic>
      <p:sp>
        <p:nvSpPr>
          <p:cNvPr id="7" name="Text 3"/>
          <p:cNvSpPr/>
          <p:nvPr/>
        </p:nvSpPr>
        <p:spPr>
          <a:xfrm>
            <a:off x="7420928" y="2212777"/>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OpenCV</a:t>
            </a:r>
            <a:endParaRPr lang="en-US" sz="1700" dirty="0"/>
          </a:p>
        </p:txBody>
      </p:sp>
      <p:sp>
        <p:nvSpPr>
          <p:cNvPr id="8" name="Text 4"/>
          <p:cNvSpPr/>
          <p:nvPr/>
        </p:nvSpPr>
        <p:spPr>
          <a:xfrm>
            <a:off x="7420928" y="2591753"/>
            <a:ext cx="5244584" cy="541258"/>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Computer vision library handling face detection, image processing, and camera integration for real-time video analysis</a:t>
            </a:r>
            <a:endParaRPr lang="en-US" sz="130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64888" y="3741896"/>
            <a:ext cx="507444" cy="507444"/>
          </a:xfrm>
          <a:prstGeom prst="rect">
            <a:avLst/>
          </a:prstGeom>
        </p:spPr>
      </p:pic>
      <p:sp>
        <p:nvSpPr>
          <p:cNvPr id="10" name="Text 5"/>
          <p:cNvSpPr/>
          <p:nvPr/>
        </p:nvSpPr>
        <p:spPr>
          <a:xfrm>
            <a:off x="1964888" y="4460796"/>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Haar Cascade</a:t>
            </a:r>
            <a:endParaRPr lang="en-US" sz="1700" dirty="0"/>
          </a:p>
        </p:txBody>
      </p:sp>
      <p:sp>
        <p:nvSpPr>
          <p:cNvPr id="11" name="Text 6"/>
          <p:cNvSpPr/>
          <p:nvPr/>
        </p:nvSpPr>
        <p:spPr>
          <a:xfrm>
            <a:off x="1964888" y="4839772"/>
            <a:ext cx="5244584" cy="541258"/>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Pre-trained classifier for rapid face detection in video streams, identifying facial regions with high accuracy and speed</a:t>
            </a:r>
            <a:endParaRPr lang="en-US" sz="130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20928" y="3741896"/>
            <a:ext cx="507444" cy="507444"/>
          </a:xfrm>
          <a:prstGeom prst="rect">
            <a:avLst/>
          </a:prstGeom>
        </p:spPr>
      </p:pic>
      <p:sp>
        <p:nvSpPr>
          <p:cNvPr id="13" name="Text 7"/>
          <p:cNvSpPr/>
          <p:nvPr/>
        </p:nvSpPr>
        <p:spPr>
          <a:xfrm>
            <a:off x="7420928" y="4460796"/>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LBPH Algorithm</a:t>
            </a:r>
            <a:endParaRPr lang="en-US" sz="1700" dirty="0"/>
          </a:p>
        </p:txBody>
      </p:sp>
      <p:sp>
        <p:nvSpPr>
          <p:cNvPr id="14" name="Text 8"/>
          <p:cNvSpPr/>
          <p:nvPr/>
        </p:nvSpPr>
        <p:spPr>
          <a:xfrm>
            <a:off x="7420928" y="4839772"/>
            <a:ext cx="5244584" cy="541258"/>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Local Binary Pattern Histogram recognizer that identifies faces by analyzing texture patterns and comparing them to trained models</a:t>
            </a:r>
            <a:endParaRPr lang="en-US" sz="130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64888" y="5719286"/>
            <a:ext cx="507444" cy="507444"/>
          </a:xfrm>
          <a:prstGeom prst="rect">
            <a:avLst/>
          </a:prstGeom>
        </p:spPr>
      </p:pic>
      <p:sp>
        <p:nvSpPr>
          <p:cNvPr id="16" name="Text 9"/>
          <p:cNvSpPr/>
          <p:nvPr/>
        </p:nvSpPr>
        <p:spPr>
          <a:xfrm>
            <a:off x="1964888" y="6438186"/>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Streamlit</a:t>
            </a:r>
            <a:endParaRPr lang="en-US" sz="1700" dirty="0"/>
          </a:p>
        </p:txBody>
      </p:sp>
      <p:sp>
        <p:nvSpPr>
          <p:cNvPr id="17" name="Text 10"/>
          <p:cNvSpPr/>
          <p:nvPr/>
        </p:nvSpPr>
        <p:spPr>
          <a:xfrm>
            <a:off x="1964888" y="6817162"/>
            <a:ext cx="5244584" cy="811887"/>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Web framework creating an interactive and responsive user interface without requiring extensive front-end development knowledge</a:t>
            </a:r>
            <a:endParaRPr lang="en-US" sz="1300" dirty="0"/>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20928" y="5719286"/>
            <a:ext cx="507444" cy="507444"/>
          </a:xfrm>
          <a:prstGeom prst="rect">
            <a:avLst/>
          </a:prstGeom>
        </p:spPr>
      </p:pic>
      <p:sp>
        <p:nvSpPr>
          <p:cNvPr id="19" name="Text 11"/>
          <p:cNvSpPr/>
          <p:nvPr/>
        </p:nvSpPr>
        <p:spPr>
          <a:xfrm>
            <a:off x="7420928" y="6438186"/>
            <a:ext cx="2220397" cy="277535"/>
          </a:xfrm>
          <a:prstGeom prst="rect">
            <a:avLst/>
          </a:prstGeom>
          <a:noFill/>
          <a:ln/>
        </p:spPr>
        <p:txBody>
          <a:bodyPr wrap="none" lIns="0" tIns="0" rIns="0" bIns="0" rtlCol="0" anchor="t"/>
          <a:lstStyle/>
          <a:p>
            <a:pPr marL="0" indent="0" algn="l">
              <a:lnSpc>
                <a:spcPts val="2150"/>
              </a:lnSpc>
              <a:buNone/>
            </a:pPr>
            <a:r>
              <a:rPr lang="en-US" sz="1700" b="1" dirty="0">
                <a:solidFill>
                  <a:srgbClr val="E0D6DE"/>
                </a:solidFill>
                <a:latin typeface="Petrona Bold" pitchFamily="34" charset="0"/>
                <a:ea typeface="Petrona Bold" pitchFamily="34" charset="-122"/>
                <a:cs typeface="Petrona Bold" pitchFamily="34" charset="-120"/>
              </a:rPr>
              <a:t>CSV Storage</a:t>
            </a:r>
            <a:endParaRPr lang="en-US" sz="1700" dirty="0"/>
          </a:p>
        </p:txBody>
      </p:sp>
      <p:sp>
        <p:nvSpPr>
          <p:cNvPr id="20" name="Text 12"/>
          <p:cNvSpPr/>
          <p:nvPr/>
        </p:nvSpPr>
        <p:spPr>
          <a:xfrm>
            <a:off x="7420928" y="6817162"/>
            <a:ext cx="5244584" cy="541258"/>
          </a:xfrm>
          <a:prstGeom prst="rect">
            <a:avLst/>
          </a:prstGeom>
          <a:noFill/>
          <a:ln/>
        </p:spPr>
        <p:txBody>
          <a:bodyPr wrap="square" lIns="0" tIns="0" rIns="0" bIns="0" rtlCol="0" anchor="t"/>
          <a:lstStyle/>
          <a:p>
            <a:pPr marL="0" indent="0" algn="l">
              <a:lnSpc>
                <a:spcPts val="2100"/>
              </a:lnSpc>
              <a:buNone/>
            </a:pPr>
            <a:r>
              <a:rPr lang="en-US" sz="1300" dirty="0">
                <a:solidFill>
                  <a:srgbClr val="E0D6DE"/>
                </a:solidFill>
                <a:latin typeface="Inter" pitchFamily="34" charset="0"/>
                <a:ea typeface="Inter" pitchFamily="34" charset="-122"/>
                <a:cs typeface="Inter" pitchFamily="34" charset="-120"/>
              </a:rPr>
              <a:t>Lightweight data storage format for attendance records, enabling easy export and integration with other systems</a:t>
            </a:r>
            <a:endParaRPr lang="en-US" sz="1300" dirty="0"/>
          </a:p>
        </p:txBody>
      </p:sp>
      <p:pic>
        <p:nvPicPr>
          <p:cNvPr id="21" name="Picture 20">
            <a:extLst>
              <a:ext uri="{FF2B5EF4-FFF2-40B4-BE49-F238E27FC236}">
                <a16:creationId xmlns:a16="http://schemas.microsoft.com/office/drawing/2014/main" id="{C5F8300C-BFA5-A4D6-7568-EF7BA61ED4D1}"/>
              </a:ext>
            </a:extLst>
          </p:cNvPr>
          <p:cNvPicPr>
            <a:picLocks noChangeAspect="1"/>
          </p:cNvPicPr>
          <p:nvPr/>
        </p:nvPicPr>
        <p:blipFill>
          <a:blip r:embed="rId15"/>
          <a:stretch>
            <a:fillRect/>
          </a:stretch>
        </p:blipFill>
        <p:spPr>
          <a:xfrm>
            <a:off x="12583035" y="7772400"/>
            <a:ext cx="2047365" cy="446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25647" y="1691634"/>
            <a:ext cx="7911227" cy="1155621"/>
          </a:xfrm>
          <a:prstGeom prst="rect">
            <a:avLst/>
          </a:prstGeom>
          <a:noFill/>
          <a:ln/>
        </p:spPr>
        <p:txBody>
          <a:bodyPr wrap="square" lIns="0" tIns="0" rIns="0" bIns="0" rtlCol="0" anchor="t"/>
          <a:lstStyle/>
          <a:p>
            <a:pPr marL="0" indent="0" algn="l">
              <a:lnSpc>
                <a:spcPts val="4550"/>
              </a:lnSpc>
              <a:buNone/>
            </a:pPr>
            <a:r>
              <a:rPr lang="en-US" sz="3600" b="1" dirty="0">
                <a:solidFill>
                  <a:srgbClr val="FF8AAF"/>
                </a:solidFill>
                <a:latin typeface="Petrona Bold" pitchFamily="34" charset="0"/>
                <a:ea typeface="Petrona Bold" pitchFamily="34" charset="-122"/>
                <a:cs typeface="Petrona Bold" pitchFamily="34" charset="-120"/>
              </a:rPr>
              <a:t>Implementation Results &amp; Challenges</a:t>
            </a:r>
          </a:p>
          <a:p>
            <a:pPr marL="0" indent="0" algn="l">
              <a:lnSpc>
                <a:spcPts val="4550"/>
              </a:lnSpc>
              <a:buNone/>
            </a:pPr>
            <a:endParaRPr lang="en-US" sz="3600" dirty="0"/>
          </a:p>
        </p:txBody>
      </p:sp>
      <p:sp>
        <p:nvSpPr>
          <p:cNvPr id="4" name="Shape 1"/>
          <p:cNvSpPr/>
          <p:nvPr/>
        </p:nvSpPr>
        <p:spPr>
          <a:xfrm>
            <a:off x="6102787" y="2746772"/>
            <a:ext cx="22860" cy="4155638"/>
          </a:xfrm>
          <a:prstGeom prst="roundRect">
            <a:avLst>
              <a:gd name="adj" fmla="val 323568"/>
            </a:avLst>
          </a:prstGeom>
          <a:solidFill>
            <a:srgbClr val="48367C"/>
          </a:solidFill>
          <a:ln/>
        </p:spPr>
      </p:sp>
      <p:sp>
        <p:nvSpPr>
          <p:cNvPr id="5" name="Shape 2"/>
          <p:cNvSpPr/>
          <p:nvPr/>
        </p:nvSpPr>
        <p:spPr>
          <a:xfrm>
            <a:off x="6102787" y="2796064"/>
            <a:ext cx="8346963" cy="2212658"/>
          </a:xfrm>
          <a:prstGeom prst="rect">
            <a:avLst/>
          </a:prstGeom>
          <a:solidFill>
            <a:srgbClr val="2F1D63"/>
          </a:solidFill>
          <a:ln w="7620">
            <a:solidFill>
              <a:srgbClr val="48367C"/>
            </a:solidFill>
            <a:prstDash val="solid"/>
          </a:ln>
        </p:spPr>
      </p:sp>
      <p:sp>
        <p:nvSpPr>
          <p:cNvPr id="6" name="Text 3"/>
          <p:cNvSpPr/>
          <p:nvPr/>
        </p:nvSpPr>
        <p:spPr>
          <a:xfrm>
            <a:off x="6301740" y="2930485"/>
            <a:ext cx="2311479" cy="288846"/>
          </a:xfrm>
          <a:prstGeom prst="rect">
            <a:avLst/>
          </a:prstGeom>
          <a:noFill/>
          <a:ln/>
        </p:spPr>
        <p:txBody>
          <a:bodyPr wrap="none" lIns="0" tIns="0" rIns="0" bIns="0" rtlCol="0" anchor="t"/>
          <a:lstStyle/>
          <a:p>
            <a:pPr marL="0" indent="0" algn="l">
              <a:lnSpc>
                <a:spcPts val="2250"/>
              </a:lnSpc>
              <a:buNone/>
            </a:pPr>
            <a:endParaRPr lang="en-US" sz="1800" b="1" dirty="0">
              <a:solidFill>
                <a:srgbClr val="E0D6DE"/>
              </a:solidFill>
              <a:latin typeface="Petrona Bold" pitchFamily="34" charset="0"/>
              <a:ea typeface="Petrona Bold" pitchFamily="34" charset="-122"/>
              <a:cs typeface="Petrona Bold" pitchFamily="34" charset="-120"/>
            </a:endParaRPr>
          </a:p>
          <a:p>
            <a:pPr marL="0" indent="0" algn="l">
              <a:lnSpc>
                <a:spcPts val="2250"/>
              </a:lnSpc>
              <a:buNone/>
            </a:pPr>
            <a:r>
              <a:rPr lang="en-US" sz="1800" b="1" dirty="0">
                <a:solidFill>
                  <a:srgbClr val="E0D6DE"/>
                </a:solidFill>
                <a:latin typeface="Petrona Bold" pitchFamily="34" charset="0"/>
                <a:ea typeface="Petrona Bold" pitchFamily="34" charset="-122"/>
                <a:cs typeface="Petrona Bold" pitchFamily="34" charset="-120"/>
              </a:rPr>
              <a:t>Successful Outcomes</a:t>
            </a:r>
            <a:endParaRPr lang="en-US" sz="1800" dirty="0"/>
          </a:p>
        </p:txBody>
      </p:sp>
      <p:sp>
        <p:nvSpPr>
          <p:cNvPr id="7" name="Text 4"/>
          <p:cNvSpPr/>
          <p:nvPr/>
        </p:nvSpPr>
        <p:spPr>
          <a:xfrm>
            <a:off x="6301740" y="3324939"/>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Achieved 92% recognition accuracy under optimal lighting conditions</a:t>
            </a:r>
            <a:endParaRPr lang="en-US" sz="1350" dirty="0"/>
          </a:p>
        </p:txBody>
      </p:sp>
      <p:sp>
        <p:nvSpPr>
          <p:cNvPr id="8" name="Text 5"/>
          <p:cNvSpPr/>
          <p:nvPr/>
        </p:nvSpPr>
        <p:spPr>
          <a:xfrm>
            <a:off x="6301740" y="3668197"/>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Reduced attendance marking time from 10 minutes to under 30 seconds</a:t>
            </a:r>
            <a:endParaRPr lang="en-US" sz="1350" dirty="0"/>
          </a:p>
        </p:txBody>
      </p:sp>
      <p:sp>
        <p:nvSpPr>
          <p:cNvPr id="9" name="Text 6"/>
          <p:cNvSpPr/>
          <p:nvPr/>
        </p:nvSpPr>
        <p:spPr>
          <a:xfrm>
            <a:off x="6301740" y="4011454"/>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Generated exportable CSV reports for attendance analysis</a:t>
            </a:r>
            <a:endParaRPr lang="en-US" sz="1350" dirty="0"/>
          </a:p>
        </p:txBody>
      </p:sp>
      <p:sp>
        <p:nvSpPr>
          <p:cNvPr id="10" name="Shape 7"/>
          <p:cNvSpPr/>
          <p:nvPr/>
        </p:nvSpPr>
        <p:spPr>
          <a:xfrm>
            <a:off x="6125647" y="5407223"/>
            <a:ext cx="8415543" cy="2699713"/>
          </a:xfrm>
          <a:prstGeom prst="rect">
            <a:avLst/>
          </a:prstGeom>
          <a:solidFill>
            <a:srgbClr val="2F1D63"/>
          </a:solidFill>
          <a:ln w="7620">
            <a:solidFill>
              <a:srgbClr val="48367C"/>
            </a:solidFill>
            <a:prstDash val="solid"/>
          </a:ln>
        </p:spPr>
      </p:sp>
      <p:sp>
        <p:nvSpPr>
          <p:cNvPr id="11" name="Text 8"/>
          <p:cNvSpPr/>
          <p:nvPr/>
        </p:nvSpPr>
        <p:spPr>
          <a:xfrm>
            <a:off x="6257136" y="5012769"/>
            <a:ext cx="2311479" cy="288846"/>
          </a:xfrm>
          <a:prstGeom prst="rect">
            <a:avLst/>
          </a:prstGeom>
          <a:noFill/>
          <a:ln/>
        </p:spPr>
        <p:txBody>
          <a:bodyPr wrap="none" lIns="0" tIns="0" rIns="0" bIns="0" rtlCol="0" anchor="t"/>
          <a:lstStyle/>
          <a:p>
            <a:pPr marL="0" indent="0" algn="l">
              <a:lnSpc>
                <a:spcPts val="2250"/>
              </a:lnSpc>
              <a:buNone/>
            </a:pPr>
            <a:endParaRPr lang="en-US" sz="1800" b="1" dirty="0">
              <a:solidFill>
                <a:srgbClr val="E0D6DE"/>
              </a:solidFill>
              <a:latin typeface="Petrona Bold" pitchFamily="34" charset="0"/>
              <a:ea typeface="Petrona Bold" pitchFamily="34" charset="-122"/>
              <a:cs typeface="Petrona Bold" pitchFamily="34" charset="-120"/>
            </a:endParaRPr>
          </a:p>
          <a:p>
            <a:pPr marL="0" indent="0" algn="l">
              <a:lnSpc>
                <a:spcPts val="2250"/>
              </a:lnSpc>
              <a:buNone/>
            </a:pPr>
            <a:endParaRPr lang="en-US" b="1" dirty="0">
              <a:solidFill>
                <a:srgbClr val="E0D6DE"/>
              </a:solidFill>
              <a:latin typeface="Petrona Bold" pitchFamily="34" charset="0"/>
              <a:ea typeface="Petrona Bold" pitchFamily="34" charset="-122"/>
              <a:cs typeface="Petrona Bold" pitchFamily="34" charset="-120"/>
            </a:endParaRPr>
          </a:p>
          <a:p>
            <a:pPr marL="0" indent="0" algn="l">
              <a:lnSpc>
                <a:spcPts val="2250"/>
              </a:lnSpc>
              <a:buNone/>
            </a:pPr>
            <a:r>
              <a:rPr lang="en-US" sz="1800" b="1" dirty="0">
                <a:solidFill>
                  <a:srgbClr val="E0D6DE"/>
                </a:solidFill>
                <a:latin typeface="Petrona Bold" pitchFamily="34" charset="0"/>
                <a:ea typeface="Petrona Bold" pitchFamily="34" charset="-122"/>
                <a:cs typeface="Petrona Bold" pitchFamily="34" charset="-120"/>
              </a:rPr>
              <a:t>Challenges Overcome</a:t>
            </a:r>
            <a:endParaRPr lang="en-US" sz="1800" dirty="0"/>
          </a:p>
        </p:txBody>
      </p:sp>
      <p:sp>
        <p:nvSpPr>
          <p:cNvPr id="12" name="Text 9"/>
          <p:cNvSpPr/>
          <p:nvPr/>
        </p:nvSpPr>
        <p:spPr>
          <a:xfrm>
            <a:off x="6301740" y="5407223"/>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Lighting variations affecting detection required parameter tuning</a:t>
            </a:r>
            <a:endParaRPr lang="en-US" sz="1350" dirty="0"/>
          </a:p>
        </p:txBody>
      </p:sp>
      <p:sp>
        <p:nvSpPr>
          <p:cNvPr id="13" name="Text 10"/>
          <p:cNvSpPr/>
          <p:nvPr/>
        </p:nvSpPr>
        <p:spPr>
          <a:xfrm>
            <a:off x="6301740" y="5750481"/>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Multiple face detection needed filtering logic to identify primary subject</a:t>
            </a:r>
            <a:endParaRPr lang="en-US" sz="1350" dirty="0"/>
          </a:p>
        </p:txBody>
      </p:sp>
      <p:sp>
        <p:nvSpPr>
          <p:cNvPr id="14" name="Text 11"/>
          <p:cNvSpPr/>
          <p:nvPr/>
        </p:nvSpPr>
        <p:spPr>
          <a:xfrm>
            <a:off x="6301740" y="6093738"/>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Dataset quality was improved through better image capture guidelines</a:t>
            </a:r>
            <a:endParaRPr lang="en-US" sz="1350" dirty="0"/>
          </a:p>
        </p:txBody>
      </p:sp>
      <p:sp>
        <p:nvSpPr>
          <p:cNvPr id="15" name="Text 12"/>
          <p:cNvSpPr/>
          <p:nvPr/>
        </p:nvSpPr>
        <p:spPr>
          <a:xfrm>
            <a:off x="6301740" y="6436995"/>
            <a:ext cx="7551420" cy="281702"/>
          </a:xfrm>
          <a:prstGeom prst="rect">
            <a:avLst/>
          </a:prstGeom>
          <a:noFill/>
          <a:ln/>
        </p:spPr>
        <p:txBody>
          <a:bodyPr wrap="none" lIns="0" tIns="0" rIns="0" bIns="0" rtlCol="0" anchor="t"/>
          <a:lstStyle/>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endParaRPr lang="en-US" sz="1350" dirty="0">
              <a:solidFill>
                <a:srgbClr val="E0D6DE"/>
              </a:solidFill>
              <a:latin typeface="Inter" pitchFamily="34" charset="0"/>
              <a:ea typeface="Inter" pitchFamily="34" charset="-122"/>
              <a:cs typeface="Inter" pitchFamily="34" charset="-120"/>
            </a:endParaRPr>
          </a:p>
          <a:p>
            <a:pPr marL="342900" indent="-342900" algn="l">
              <a:lnSpc>
                <a:spcPts val="2200"/>
              </a:lnSpc>
              <a:buSzPct val="100000"/>
              <a:buChar char="•"/>
            </a:pPr>
            <a:r>
              <a:rPr lang="en-US" sz="1350" dirty="0">
                <a:solidFill>
                  <a:srgbClr val="E0D6DE"/>
                </a:solidFill>
                <a:latin typeface="Inter" pitchFamily="34" charset="0"/>
                <a:ea typeface="Inter" pitchFamily="34" charset="-122"/>
                <a:cs typeface="Inter" pitchFamily="34" charset="-120"/>
              </a:rPr>
              <a:t>Model retraining optimization reduced processing time significantly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38808" y="556498"/>
            <a:ext cx="7219831" cy="661511"/>
          </a:xfrm>
          <a:prstGeom prst="rect">
            <a:avLst/>
          </a:prstGeom>
          <a:noFill/>
          <a:ln/>
        </p:spPr>
        <p:txBody>
          <a:bodyPr wrap="none" lIns="0" tIns="0" rIns="0" bIns="0" rtlCol="0" anchor="t"/>
          <a:lstStyle/>
          <a:p>
            <a:pPr marL="0" indent="0" algn="l">
              <a:lnSpc>
                <a:spcPts val="5200"/>
              </a:lnSpc>
              <a:buNone/>
            </a:pPr>
            <a:r>
              <a:rPr lang="en-US" sz="4150" b="1" dirty="0">
                <a:solidFill>
                  <a:srgbClr val="FF8AAF"/>
                </a:solidFill>
                <a:latin typeface="Petrona Bold" pitchFamily="34" charset="0"/>
                <a:ea typeface="Petrona Bold" pitchFamily="34" charset="-122"/>
                <a:cs typeface="Petrona Bold" pitchFamily="34" charset="-120"/>
              </a:rPr>
              <a:t>Key Learnings &amp; Future Scope</a:t>
            </a:r>
            <a:endParaRPr lang="en-US" sz="4150" dirty="0"/>
          </a:p>
        </p:txBody>
      </p:sp>
      <p:sp>
        <p:nvSpPr>
          <p:cNvPr id="3" name="Text 1"/>
          <p:cNvSpPr/>
          <p:nvPr/>
        </p:nvSpPr>
        <p:spPr>
          <a:xfrm>
            <a:off x="938808" y="1722001"/>
            <a:ext cx="2646283" cy="330756"/>
          </a:xfrm>
          <a:prstGeom prst="rect">
            <a:avLst/>
          </a:prstGeom>
          <a:noFill/>
          <a:ln/>
        </p:spPr>
        <p:txBody>
          <a:bodyPr wrap="none" lIns="0" tIns="0" rIns="0" bIns="0" rtlCol="0" anchor="t"/>
          <a:lstStyle/>
          <a:p>
            <a:pPr marL="0" indent="0" algn="l">
              <a:lnSpc>
                <a:spcPts val="2600"/>
              </a:lnSpc>
              <a:buNone/>
            </a:pPr>
            <a:r>
              <a:rPr lang="en-US" sz="2050" b="1" dirty="0">
                <a:solidFill>
                  <a:srgbClr val="FF8AAF"/>
                </a:solidFill>
                <a:latin typeface="Petrona Bold" pitchFamily="34" charset="0"/>
                <a:ea typeface="Petrona Bold" pitchFamily="34" charset="-122"/>
                <a:cs typeface="Petrona Bold" pitchFamily="34" charset="-120"/>
              </a:rPr>
              <a:t>Skills Developed</a:t>
            </a:r>
            <a:endParaRPr lang="en-US" sz="2050" dirty="0"/>
          </a:p>
        </p:txBody>
      </p:sp>
      <p:sp>
        <p:nvSpPr>
          <p:cNvPr id="4" name="Text 2"/>
          <p:cNvSpPr/>
          <p:nvPr/>
        </p:nvSpPr>
        <p:spPr>
          <a:xfrm>
            <a:off x="938808" y="2254329"/>
            <a:ext cx="5865495" cy="644843"/>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Hands-on experience with OpenCV and computer vision techniques</a:t>
            </a:r>
            <a:endParaRPr lang="en-US" sz="1550" dirty="0"/>
          </a:p>
        </p:txBody>
      </p:sp>
      <p:sp>
        <p:nvSpPr>
          <p:cNvPr id="5" name="Text 3"/>
          <p:cNvSpPr/>
          <p:nvPr/>
        </p:nvSpPr>
        <p:spPr>
          <a:xfrm>
            <a:off x="938808" y="2969657"/>
            <a:ext cx="5865495" cy="644843"/>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Understanding of machine learning algorithms for face recognition</a:t>
            </a:r>
            <a:endParaRPr lang="en-US" sz="1550" dirty="0"/>
          </a:p>
        </p:txBody>
      </p:sp>
      <p:sp>
        <p:nvSpPr>
          <p:cNvPr id="6" name="Text 4"/>
          <p:cNvSpPr/>
          <p:nvPr/>
        </p:nvSpPr>
        <p:spPr>
          <a:xfrm>
            <a:off x="938808" y="3684984"/>
            <a:ext cx="5865495" cy="644843"/>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Web application development using modern Python frameworks</a:t>
            </a:r>
            <a:endParaRPr lang="en-US" sz="1550" dirty="0"/>
          </a:p>
        </p:txBody>
      </p:sp>
      <p:sp>
        <p:nvSpPr>
          <p:cNvPr id="7" name="Text 5"/>
          <p:cNvSpPr/>
          <p:nvPr/>
        </p:nvSpPr>
        <p:spPr>
          <a:xfrm>
            <a:off x="938808" y="4400312"/>
            <a:ext cx="5865495" cy="322421"/>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Problem-solving in real-world deployment scenarios</a:t>
            </a:r>
            <a:endParaRPr lang="en-US" sz="1550" dirty="0"/>
          </a:p>
        </p:txBody>
      </p:sp>
      <p:sp>
        <p:nvSpPr>
          <p:cNvPr id="8" name="Text 6"/>
          <p:cNvSpPr/>
          <p:nvPr/>
        </p:nvSpPr>
        <p:spPr>
          <a:xfrm>
            <a:off x="938808" y="4924306"/>
            <a:ext cx="2681645" cy="330756"/>
          </a:xfrm>
          <a:prstGeom prst="rect">
            <a:avLst/>
          </a:prstGeom>
          <a:noFill/>
          <a:ln/>
        </p:spPr>
        <p:txBody>
          <a:bodyPr wrap="none" lIns="0" tIns="0" rIns="0" bIns="0" rtlCol="0" anchor="t"/>
          <a:lstStyle/>
          <a:p>
            <a:pPr marL="0" indent="0" algn="l">
              <a:lnSpc>
                <a:spcPts val="2600"/>
              </a:lnSpc>
              <a:buNone/>
            </a:pPr>
            <a:r>
              <a:rPr lang="en-US" sz="2050" b="1" dirty="0">
                <a:solidFill>
                  <a:srgbClr val="FF8AAF"/>
                </a:solidFill>
                <a:latin typeface="Petrona Bold" pitchFamily="34" charset="0"/>
                <a:ea typeface="Petrona Bold" pitchFamily="34" charset="-122"/>
                <a:cs typeface="Petrona Bold" pitchFamily="34" charset="-120"/>
              </a:rPr>
              <a:t>Future Enhancements</a:t>
            </a:r>
            <a:endParaRPr lang="en-US" sz="2050" dirty="0"/>
          </a:p>
        </p:txBody>
      </p:sp>
      <p:sp>
        <p:nvSpPr>
          <p:cNvPr id="9" name="Text 7"/>
          <p:cNvSpPr/>
          <p:nvPr/>
        </p:nvSpPr>
        <p:spPr>
          <a:xfrm>
            <a:off x="938808" y="5456634"/>
            <a:ext cx="5865495" cy="644843"/>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Integration with cloud storage for centralized data management</a:t>
            </a:r>
            <a:endParaRPr lang="en-US" sz="1550" dirty="0"/>
          </a:p>
        </p:txBody>
      </p:sp>
      <p:sp>
        <p:nvSpPr>
          <p:cNvPr id="10" name="Text 8"/>
          <p:cNvSpPr/>
          <p:nvPr/>
        </p:nvSpPr>
        <p:spPr>
          <a:xfrm>
            <a:off x="938808" y="6171962"/>
            <a:ext cx="5865495" cy="322421"/>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Mobile app development for extended accessibility</a:t>
            </a:r>
            <a:endParaRPr lang="en-US" sz="1550" dirty="0"/>
          </a:p>
        </p:txBody>
      </p:sp>
      <p:sp>
        <p:nvSpPr>
          <p:cNvPr id="11" name="Text 9"/>
          <p:cNvSpPr/>
          <p:nvPr/>
        </p:nvSpPr>
        <p:spPr>
          <a:xfrm>
            <a:off x="938808" y="6564868"/>
            <a:ext cx="5865495" cy="644843"/>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Deep learning models for improved accuracy and robustness</a:t>
            </a:r>
            <a:endParaRPr lang="en-US" sz="1550" dirty="0"/>
          </a:p>
        </p:txBody>
      </p:sp>
      <p:sp>
        <p:nvSpPr>
          <p:cNvPr id="12" name="Text 10"/>
          <p:cNvSpPr/>
          <p:nvPr/>
        </p:nvSpPr>
        <p:spPr>
          <a:xfrm>
            <a:off x="938808" y="7350681"/>
            <a:ext cx="5865495" cy="322421"/>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Inter" pitchFamily="34" charset="0"/>
                <a:ea typeface="Inter" pitchFamily="34" charset="-122"/>
                <a:cs typeface="Inter" pitchFamily="34" charset="-120"/>
              </a:rPr>
              <a:t>Multi-camera support for larger venues and spaces</a:t>
            </a:r>
            <a:endParaRPr lang="en-US" sz="1550" dirty="0"/>
          </a:p>
        </p:txBody>
      </p:sp>
      <p:sp>
        <p:nvSpPr>
          <p:cNvPr id="13" name="Shape 11"/>
          <p:cNvSpPr/>
          <p:nvPr/>
        </p:nvSpPr>
        <p:spPr>
          <a:xfrm>
            <a:off x="7303651" y="1747242"/>
            <a:ext cx="7219831" cy="6359695"/>
          </a:xfrm>
          <a:prstGeom prst="roundRect">
            <a:avLst>
              <a:gd name="adj" fmla="val 2009"/>
            </a:avLst>
          </a:prstGeom>
          <a:solidFill>
            <a:srgbClr val="1C113B"/>
          </a:solidFill>
          <a:ln/>
        </p:spPr>
      </p:sp>
      <p:pic>
        <p:nvPicPr>
          <p:cNvPr id="14" name="Image 0" descr="preencoded.png"/>
          <p:cNvPicPr>
            <a:picLocks noChangeAspect="1"/>
          </p:cNvPicPr>
          <p:nvPr/>
        </p:nvPicPr>
        <p:blipFill>
          <a:blip r:embed="rId3"/>
          <a:stretch>
            <a:fillRect/>
          </a:stretch>
        </p:blipFill>
        <p:spPr>
          <a:xfrm>
            <a:off x="7505224" y="2010847"/>
            <a:ext cx="396835" cy="317540"/>
          </a:xfrm>
          <a:prstGeom prst="rect">
            <a:avLst/>
          </a:prstGeom>
        </p:spPr>
      </p:pic>
      <p:sp>
        <p:nvSpPr>
          <p:cNvPr id="15" name="Text 12"/>
          <p:cNvSpPr/>
          <p:nvPr/>
        </p:nvSpPr>
        <p:spPr>
          <a:xfrm>
            <a:off x="8103632" y="1999178"/>
            <a:ext cx="3175516" cy="396835"/>
          </a:xfrm>
          <a:prstGeom prst="rect">
            <a:avLst/>
          </a:prstGeom>
          <a:noFill/>
          <a:ln/>
        </p:spPr>
        <p:txBody>
          <a:bodyPr wrap="none" lIns="0" tIns="0" rIns="0" bIns="0" rtlCol="0" anchor="t"/>
          <a:lstStyle/>
          <a:p>
            <a:pPr marL="0" indent="0" algn="l">
              <a:lnSpc>
                <a:spcPts val="3100"/>
              </a:lnSpc>
              <a:buNone/>
            </a:pPr>
            <a:r>
              <a:rPr lang="en-US" sz="2500" b="1" dirty="0">
                <a:solidFill>
                  <a:srgbClr val="FFFFFF"/>
                </a:solidFill>
                <a:latin typeface="Petrona Bold" pitchFamily="34" charset="0"/>
                <a:ea typeface="Petrona Bold" pitchFamily="34" charset="-122"/>
                <a:cs typeface="Petrona Bold" pitchFamily="34" charset="-120"/>
              </a:rPr>
              <a:t>Project Summary</a:t>
            </a:r>
            <a:endParaRPr lang="en-US" sz="2500" dirty="0"/>
          </a:p>
        </p:txBody>
      </p:sp>
      <p:sp>
        <p:nvSpPr>
          <p:cNvPr id="16" name="Text 13"/>
          <p:cNvSpPr/>
          <p:nvPr/>
        </p:nvSpPr>
        <p:spPr>
          <a:xfrm>
            <a:off x="8103632" y="2597587"/>
            <a:ext cx="5393769" cy="1934528"/>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Inter" pitchFamily="34" charset="0"/>
                <a:ea typeface="Inter" pitchFamily="34" charset="-122"/>
                <a:cs typeface="Inter" pitchFamily="34" charset="-120"/>
              </a:rPr>
              <a:t>This internship project successfully demonstrated the practical application of face recognition technology in solving real-world attendance challenges. The system combines computer vision, machine learning, and web development to create an efficient, accurate, and user-friendly solution.</a:t>
            </a:r>
            <a:endParaRPr lang="en-US" dirty="0"/>
          </a:p>
        </p:txBody>
      </p:sp>
      <p:sp>
        <p:nvSpPr>
          <p:cNvPr id="17" name="Text 14"/>
          <p:cNvSpPr/>
          <p:nvPr/>
        </p:nvSpPr>
        <p:spPr>
          <a:xfrm>
            <a:off x="8103632" y="4713565"/>
            <a:ext cx="5393769" cy="967264"/>
          </a:xfrm>
          <a:prstGeom prst="rect">
            <a:avLst/>
          </a:prstGeom>
          <a:noFill/>
          <a:ln/>
        </p:spPr>
        <p:txBody>
          <a:bodyPr wrap="square" lIns="0" tIns="0" rIns="0" bIns="0" rtlCol="0" anchor="t"/>
          <a:lstStyle/>
          <a:p>
            <a:pPr marL="0" indent="0" algn="l">
              <a:lnSpc>
                <a:spcPts val="2500"/>
              </a:lnSpc>
              <a:buNone/>
            </a:pPr>
            <a:endParaRPr lang="en-US" sz="1550" b="1" dirty="0">
              <a:solidFill>
                <a:srgbClr val="FFFFFF"/>
              </a:solidFill>
              <a:latin typeface="Inter" pitchFamily="34" charset="0"/>
              <a:ea typeface="Inter" pitchFamily="34" charset="-122"/>
              <a:cs typeface="Inter" pitchFamily="34" charset="-120"/>
            </a:endParaRPr>
          </a:p>
          <a:p>
            <a:pPr marL="0" indent="0" algn="l">
              <a:lnSpc>
                <a:spcPts val="2500"/>
              </a:lnSpc>
              <a:buNone/>
            </a:pPr>
            <a:endParaRPr lang="en-US" sz="1550" b="1" dirty="0">
              <a:solidFill>
                <a:srgbClr val="FFFFFF"/>
              </a:solidFill>
              <a:latin typeface="Inter" pitchFamily="34" charset="0"/>
              <a:ea typeface="Inter" pitchFamily="34" charset="-122"/>
              <a:cs typeface="Inter" pitchFamily="34" charset="-120"/>
            </a:endParaRPr>
          </a:p>
          <a:p>
            <a:pPr marL="0" indent="0" algn="l">
              <a:lnSpc>
                <a:spcPts val="2500"/>
              </a:lnSpc>
              <a:buNone/>
            </a:pPr>
            <a:r>
              <a:rPr lang="en-US" sz="1550" b="1" dirty="0">
                <a:solidFill>
                  <a:srgbClr val="FFFFFF"/>
                </a:solidFill>
                <a:latin typeface="Inter" pitchFamily="34" charset="0"/>
                <a:ea typeface="Inter" pitchFamily="34" charset="-122"/>
                <a:cs typeface="Inter" pitchFamily="34" charset="-120"/>
              </a:rPr>
              <a:t>I</a:t>
            </a:r>
            <a:r>
              <a:rPr lang="en-US" b="1" dirty="0">
                <a:solidFill>
                  <a:srgbClr val="FFFFFF"/>
                </a:solidFill>
                <a:latin typeface="Inter" pitchFamily="34" charset="0"/>
                <a:ea typeface="Inter" pitchFamily="34" charset="-122"/>
                <a:cs typeface="Inter" pitchFamily="34" charset="-120"/>
              </a:rPr>
              <a:t>mpact:</a:t>
            </a:r>
            <a:r>
              <a:rPr lang="en-US" dirty="0">
                <a:solidFill>
                  <a:srgbClr val="FFFFFF"/>
                </a:solidFill>
                <a:latin typeface="Inter" pitchFamily="34" charset="0"/>
                <a:ea typeface="Inter" pitchFamily="34" charset="-122"/>
                <a:cs typeface="Inter" pitchFamily="34" charset="-120"/>
              </a:rPr>
              <a:t> Significant time savings and improved accuracy in attendance management with strong potential for real-world deployment.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78882" y="1380411"/>
            <a:ext cx="4341971" cy="542687"/>
          </a:xfrm>
          <a:prstGeom prst="rect">
            <a:avLst/>
          </a:prstGeom>
          <a:noFill/>
          <a:ln/>
        </p:spPr>
        <p:txBody>
          <a:bodyPr wrap="none" lIns="0" tIns="0" rIns="0" bIns="0" rtlCol="0" anchor="t"/>
          <a:lstStyle/>
          <a:p>
            <a:pPr marL="0" indent="0" algn="l">
              <a:lnSpc>
                <a:spcPts val="4250"/>
              </a:lnSpc>
              <a:buNone/>
            </a:pPr>
            <a:r>
              <a:rPr lang="en-US" sz="3400" b="1" dirty="0">
                <a:solidFill>
                  <a:srgbClr val="FF8AAF"/>
                </a:solidFill>
                <a:latin typeface="Petrona Bold" pitchFamily="34" charset="0"/>
                <a:ea typeface="Petrona Bold" pitchFamily="34" charset="-122"/>
                <a:cs typeface="Petrona Bold" pitchFamily="34" charset="-120"/>
              </a:rPr>
              <a:t>Conclusion</a:t>
            </a:r>
            <a:endParaRPr lang="en-US" sz="3400" dirty="0"/>
          </a:p>
        </p:txBody>
      </p:sp>
      <p:sp>
        <p:nvSpPr>
          <p:cNvPr id="4" name="Shape 1"/>
          <p:cNvSpPr/>
          <p:nvPr/>
        </p:nvSpPr>
        <p:spPr>
          <a:xfrm>
            <a:off x="578882" y="2171105"/>
            <a:ext cx="3910370" cy="2917746"/>
          </a:xfrm>
          <a:prstGeom prst="roundRect">
            <a:avLst>
              <a:gd name="adj" fmla="val 2381"/>
            </a:avLst>
          </a:prstGeom>
          <a:solidFill>
            <a:srgbClr val="0C0524">
              <a:alpha val="95000"/>
            </a:srgbClr>
          </a:solidFill>
          <a:ln w="22860">
            <a:solidFill>
              <a:srgbClr val="48367C"/>
            </a:solidFill>
            <a:prstDash val="solid"/>
          </a:ln>
        </p:spPr>
      </p:sp>
      <p:sp>
        <p:nvSpPr>
          <p:cNvPr id="5" name="Text 2"/>
          <p:cNvSpPr/>
          <p:nvPr/>
        </p:nvSpPr>
        <p:spPr>
          <a:xfrm>
            <a:off x="767120" y="2359343"/>
            <a:ext cx="2605207"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What We Built</a:t>
            </a:r>
            <a:endParaRPr lang="en-US" sz="2050" dirty="0"/>
          </a:p>
        </p:txBody>
      </p:sp>
      <p:sp>
        <p:nvSpPr>
          <p:cNvPr id="6" name="Text 3"/>
          <p:cNvSpPr/>
          <p:nvPr/>
        </p:nvSpPr>
        <p:spPr>
          <a:xfrm>
            <a:off x="767120" y="2784158"/>
            <a:ext cx="3533894" cy="1587341"/>
          </a:xfrm>
          <a:prstGeom prst="rect">
            <a:avLst/>
          </a:prstGeom>
          <a:noFill/>
          <a:ln/>
        </p:spPr>
        <p:txBody>
          <a:bodyPr wrap="square" lIns="0" tIns="0" rIns="0" bIns="0" rtlCol="0" anchor="t"/>
          <a:lstStyle/>
          <a:p>
            <a:pPr marL="0" indent="0" algn="l">
              <a:lnSpc>
                <a:spcPts val="2050"/>
              </a:lnSpc>
              <a:buNone/>
            </a:pPr>
            <a:r>
              <a:rPr lang="en-US" sz="1300" dirty="0">
                <a:solidFill>
                  <a:srgbClr val="E0D6DE"/>
                </a:solidFill>
                <a:latin typeface="Inter" pitchFamily="34" charset="0"/>
                <a:ea typeface="Inter" pitchFamily="34" charset="-122"/>
                <a:cs typeface="Inter" pitchFamily="34" charset="-120"/>
              </a:rPr>
              <a:t>So, what did we achieve here? We built a face recognition system that makes checking in super fast and easy. No more manual sign-ups or long queues – it handles attendance efficiently, just by recognizing faces.</a:t>
            </a:r>
            <a:endParaRPr lang="en-US" sz="1300" dirty="0"/>
          </a:p>
        </p:txBody>
      </p:sp>
      <p:sp>
        <p:nvSpPr>
          <p:cNvPr id="7" name="Shape 4"/>
          <p:cNvSpPr/>
          <p:nvPr/>
        </p:nvSpPr>
        <p:spPr>
          <a:xfrm>
            <a:off x="4654629" y="2171105"/>
            <a:ext cx="3910489" cy="2917746"/>
          </a:xfrm>
          <a:prstGeom prst="roundRect">
            <a:avLst>
              <a:gd name="adj" fmla="val 2381"/>
            </a:avLst>
          </a:prstGeom>
          <a:solidFill>
            <a:srgbClr val="0C0524">
              <a:alpha val="95000"/>
            </a:srgbClr>
          </a:solidFill>
          <a:ln w="22860">
            <a:solidFill>
              <a:srgbClr val="48367C"/>
            </a:solidFill>
            <a:prstDash val="solid"/>
          </a:ln>
        </p:spPr>
      </p:sp>
      <p:sp>
        <p:nvSpPr>
          <p:cNvPr id="8" name="Text 5"/>
          <p:cNvSpPr/>
          <p:nvPr/>
        </p:nvSpPr>
        <p:spPr>
          <a:xfrm>
            <a:off x="4842867" y="2359343"/>
            <a:ext cx="2605207"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Real Impact</a:t>
            </a:r>
            <a:endParaRPr lang="en-US" sz="2050" dirty="0"/>
          </a:p>
        </p:txBody>
      </p:sp>
      <p:sp>
        <p:nvSpPr>
          <p:cNvPr id="9" name="Text 6"/>
          <p:cNvSpPr/>
          <p:nvPr/>
        </p:nvSpPr>
        <p:spPr>
          <a:xfrm>
            <a:off x="4842867" y="2784158"/>
            <a:ext cx="3534013" cy="2116455"/>
          </a:xfrm>
          <a:prstGeom prst="rect">
            <a:avLst/>
          </a:prstGeom>
          <a:noFill/>
          <a:ln/>
        </p:spPr>
        <p:txBody>
          <a:bodyPr wrap="square" lIns="0" tIns="0" rIns="0" bIns="0" rtlCol="0" anchor="t"/>
          <a:lstStyle/>
          <a:p>
            <a:pPr marL="0" indent="0" algn="l">
              <a:lnSpc>
                <a:spcPts val="2050"/>
              </a:lnSpc>
              <a:buNone/>
            </a:pPr>
            <a:r>
              <a:rPr lang="en-US" sz="1300" dirty="0">
                <a:solidFill>
                  <a:srgbClr val="E0D6DE"/>
                </a:solidFill>
                <a:latin typeface="Inter" pitchFamily="34" charset="0"/>
                <a:ea typeface="Inter" pitchFamily="34" charset="-122"/>
                <a:cs typeface="Inter" pitchFamily="34" charset="-120"/>
              </a:rPr>
              <a:t>This isn't just a tech project; it's about real impact. Think about the time saved – potentially minutes per person each day – and how much more accurate attendance records become. This system is genuinely designed to simplify attendance for places like schools and offices, making things smoother and more reliable.</a:t>
            </a:r>
            <a:endParaRPr lang="en-US" sz="1300" dirty="0"/>
          </a:p>
        </p:txBody>
      </p:sp>
      <p:sp>
        <p:nvSpPr>
          <p:cNvPr id="10" name="Shape 7"/>
          <p:cNvSpPr/>
          <p:nvPr/>
        </p:nvSpPr>
        <p:spPr>
          <a:xfrm>
            <a:off x="578882" y="5254228"/>
            <a:ext cx="7986236" cy="1594961"/>
          </a:xfrm>
          <a:prstGeom prst="roundRect">
            <a:avLst>
              <a:gd name="adj" fmla="val 4356"/>
            </a:avLst>
          </a:prstGeom>
          <a:solidFill>
            <a:srgbClr val="0C0524">
              <a:alpha val="95000"/>
            </a:srgbClr>
          </a:solidFill>
          <a:ln w="22860">
            <a:solidFill>
              <a:srgbClr val="48367C"/>
            </a:solidFill>
            <a:prstDash val="solid"/>
          </a:ln>
        </p:spPr>
      </p:sp>
      <p:sp>
        <p:nvSpPr>
          <p:cNvPr id="11" name="Text 8"/>
          <p:cNvSpPr/>
          <p:nvPr/>
        </p:nvSpPr>
        <p:spPr>
          <a:xfrm>
            <a:off x="767120" y="5442466"/>
            <a:ext cx="2605207" cy="325636"/>
          </a:xfrm>
          <a:prstGeom prst="rect">
            <a:avLst/>
          </a:prstGeom>
          <a:noFill/>
          <a:ln/>
        </p:spPr>
        <p:txBody>
          <a:bodyPr wrap="none" lIns="0" tIns="0" rIns="0" bIns="0" rtlCol="0" anchor="t"/>
          <a:lstStyle/>
          <a:p>
            <a:pPr marL="0" indent="0" algn="l">
              <a:lnSpc>
                <a:spcPts val="2550"/>
              </a:lnSpc>
              <a:buNone/>
            </a:pPr>
            <a:r>
              <a:rPr lang="en-US" sz="2050" b="1" dirty="0">
                <a:solidFill>
                  <a:srgbClr val="E0D6DE"/>
                </a:solidFill>
                <a:latin typeface="Petrona Bold" pitchFamily="34" charset="0"/>
                <a:ea typeface="Petrona Bold" pitchFamily="34" charset="-122"/>
                <a:cs typeface="Petrona Bold" pitchFamily="34" charset="-120"/>
              </a:rPr>
              <a:t>What's Next</a:t>
            </a:r>
            <a:endParaRPr lang="en-US" sz="2050" dirty="0"/>
          </a:p>
        </p:txBody>
      </p:sp>
      <p:sp>
        <p:nvSpPr>
          <p:cNvPr id="12" name="Text 9"/>
          <p:cNvSpPr/>
          <p:nvPr/>
        </p:nvSpPr>
        <p:spPr>
          <a:xfrm>
            <a:off x="767120" y="5867281"/>
            <a:ext cx="7609761" cy="793671"/>
          </a:xfrm>
          <a:prstGeom prst="rect">
            <a:avLst/>
          </a:prstGeom>
          <a:noFill/>
          <a:ln/>
        </p:spPr>
        <p:txBody>
          <a:bodyPr wrap="square" lIns="0" tIns="0" rIns="0" bIns="0" rtlCol="0" anchor="t"/>
          <a:lstStyle/>
          <a:p>
            <a:pPr marL="0" indent="0" algn="l">
              <a:lnSpc>
                <a:spcPts val="2050"/>
              </a:lnSpc>
              <a:buNone/>
            </a:pPr>
            <a:r>
              <a:rPr lang="en-US" sz="1300" dirty="0">
                <a:solidFill>
                  <a:srgbClr val="E0D6DE"/>
                </a:solidFill>
                <a:latin typeface="Inter" pitchFamily="34" charset="0"/>
                <a:ea typeface="Inter" pitchFamily="34" charset="-122"/>
                <a:cs typeface="Inter" pitchFamily="34" charset="-120"/>
              </a:rPr>
              <a:t>The best part is, it's ready for what's next. Our system can easily integrate with your existing tools, and we're excited to keep adding smart features. We're even kicking off a pilot program at a local school next quarter to see it in action and make a real difference.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851</Words>
  <Application>Microsoft Office PowerPoint</Application>
  <PresentationFormat>Custom</PresentationFormat>
  <Paragraphs>120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Petrona Bold</vt:lpstr>
      <vt:lpstr>Arial</vt:lpstr>
      <vt:lpstr>Inter</vt:lpstr>
      <vt:lpstr>Petrona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s b</cp:lastModifiedBy>
  <cp:revision>2</cp:revision>
  <dcterms:created xsi:type="dcterms:W3CDTF">2026-01-06T07:07:12Z</dcterms:created>
  <dcterms:modified xsi:type="dcterms:W3CDTF">2026-01-12T13:52:30Z</dcterms:modified>
</cp:coreProperties>
</file>