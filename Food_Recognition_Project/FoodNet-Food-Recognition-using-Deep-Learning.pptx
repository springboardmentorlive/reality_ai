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78273"/>
            <a:ext cx="7556421" cy="2543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FoodNet: Food Recognition using Deep Learning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6280190" y="5261610"/>
            <a:ext cx="75564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end-to-end AI-powered web application for food image classification and intelligent analysis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27215"/>
            <a:ext cx="1694259" cy="371832"/>
          </a:xfrm>
          <a:prstGeom prst="roundRect">
            <a:avLst>
              <a:gd name="adj" fmla="val 20497"/>
            </a:avLst>
          </a:prstGeom>
          <a:solidFill>
            <a:srgbClr val="FFE0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622346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595199"/>
            <a:ext cx="1149906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989773"/>
            <a:ext cx="7928134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Problem We're Solving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793790" y="3404473"/>
            <a:ext cx="4642604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Why Food Recognition Matters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793790" y="4055150"/>
            <a:ext cx="6244709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image recognition powers next-generation applications in nutrition tracking, cooking assistance, and smart health platforms. Users need more than just predictions—they need actionable insights.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3404473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Current System Gaps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7599521" y="4055150"/>
            <a:ext cx="62447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to basic classification only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4429244"/>
            <a:ext cx="62447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model comparison capabilities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599521" y="4803338"/>
            <a:ext cx="62447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deployment optimization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599521" y="5177433"/>
            <a:ext cx="624470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Lack of contextual information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5806678"/>
            <a:ext cx="13042821" cy="895707"/>
          </a:xfrm>
          <a:prstGeom prst="roundRect">
            <a:avLst>
              <a:gd name="adj" fmla="val 10636"/>
            </a:avLst>
          </a:prstGeom>
          <a:solidFill>
            <a:srgbClr val="FFD1B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120289"/>
            <a:ext cx="283488" cy="22681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30906" y="6090166"/>
            <a:ext cx="1207889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challenge: Build a system that is accurate, fast, deployable, and genuinely informative for end users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384" y="618292"/>
            <a:ext cx="6443663" cy="837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550"/>
              </a:lnSpc>
              <a:buNone/>
            </a:pPr>
            <a:r>
              <a:rPr lang="en-US" sz="5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Introducing FoodNet</a:t>
            </a:r>
            <a:endParaRPr lang="en-US" sz="5050" dirty="0"/>
          </a:p>
        </p:txBody>
      </p:sp>
      <p:sp>
        <p:nvSpPr>
          <p:cNvPr id="3" name="Text 1"/>
          <p:cNvSpPr/>
          <p:nvPr/>
        </p:nvSpPr>
        <p:spPr>
          <a:xfrm>
            <a:off x="784384" y="1792010"/>
            <a:ext cx="13061633" cy="873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FoodNet transforms food image recognition from simple classification into a comprehensive intelligence platform. Users upload images, select from multiple trained CNN models, and receive real-time predictions enhanced with confidence scores, nutritional data, AI-generated insights, and cooking video recommendations.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84384" y="2917746"/>
            <a:ext cx="6418778" cy="2234684"/>
          </a:xfrm>
          <a:prstGeom prst="roundRect">
            <a:avLst>
              <a:gd name="adj" fmla="val 421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1319" y="3164681"/>
            <a:ext cx="672346" cy="672346"/>
          </a:xfrm>
          <a:prstGeom prst="roundRect">
            <a:avLst>
              <a:gd name="adj" fmla="val 13598780"/>
            </a:avLst>
          </a:prstGeom>
          <a:solidFill>
            <a:srgbClr val="FF95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6223" y="3349585"/>
            <a:ext cx="302538" cy="3025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1319" y="4061103"/>
            <a:ext cx="3221831" cy="41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Upload &amp; Classify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1031319" y="4614267"/>
            <a:ext cx="5924907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food image recognition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7238" y="2917746"/>
            <a:ext cx="6418778" cy="2234684"/>
          </a:xfrm>
          <a:prstGeom prst="roundRect">
            <a:avLst>
              <a:gd name="adj" fmla="val 421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74173" y="3164681"/>
            <a:ext cx="672346" cy="672346"/>
          </a:xfrm>
          <a:prstGeom prst="roundRect">
            <a:avLst>
              <a:gd name="adj" fmla="val 13598780"/>
            </a:avLst>
          </a:prstGeom>
          <a:solidFill>
            <a:srgbClr val="FF95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9077" y="3349585"/>
            <a:ext cx="302538" cy="3025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74173" y="4061103"/>
            <a:ext cx="3221831" cy="41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Model Selection</a:t>
            </a:r>
            <a:endParaRPr lang="en-US" sz="2500" dirty="0"/>
          </a:p>
        </p:txBody>
      </p:sp>
      <p:sp>
        <p:nvSpPr>
          <p:cNvPr id="13" name="Text 9"/>
          <p:cNvSpPr/>
          <p:nvPr/>
        </p:nvSpPr>
        <p:spPr>
          <a:xfrm>
            <a:off x="7674173" y="4614267"/>
            <a:ext cx="5924907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from multiple CNN architectures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784384" y="5376505"/>
            <a:ext cx="6418778" cy="2234684"/>
          </a:xfrm>
          <a:prstGeom prst="roundRect">
            <a:avLst>
              <a:gd name="adj" fmla="val 421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31319" y="5623441"/>
            <a:ext cx="672346" cy="672346"/>
          </a:xfrm>
          <a:prstGeom prst="roundRect">
            <a:avLst>
              <a:gd name="adj" fmla="val 13598780"/>
            </a:avLst>
          </a:prstGeom>
          <a:solidFill>
            <a:srgbClr val="FF95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6223" y="5808345"/>
            <a:ext cx="302538" cy="3025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31319" y="6519863"/>
            <a:ext cx="3221831" cy="41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Smart Insights</a:t>
            </a:r>
            <a:endParaRPr lang="en-US" sz="2500" dirty="0"/>
          </a:p>
        </p:txBody>
      </p:sp>
      <p:sp>
        <p:nvSpPr>
          <p:cNvPr id="18" name="Text 13"/>
          <p:cNvSpPr/>
          <p:nvPr/>
        </p:nvSpPr>
        <p:spPr>
          <a:xfrm>
            <a:off x="1031319" y="7073027"/>
            <a:ext cx="5924907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Nutrition data and AI descriptions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7427238" y="5376505"/>
            <a:ext cx="6418778" cy="2234684"/>
          </a:xfrm>
          <a:prstGeom prst="roundRect">
            <a:avLst>
              <a:gd name="adj" fmla="val 421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74173" y="5623441"/>
            <a:ext cx="672346" cy="672346"/>
          </a:xfrm>
          <a:prstGeom prst="roundRect">
            <a:avLst>
              <a:gd name="adj" fmla="val 13598780"/>
            </a:avLst>
          </a:prstGeom>
          <a:solidFill>
            <a:srgbClr val="FF95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9077" y="5808345"/>
            <a:ext cx="302538" cy="3025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74173" y="6519863"/>
            <a:ext cx="3221831" cy="41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Learn More</a:t>
            </a:r>
            <a:endParaRPr lang="en-US" sz="2500" dirty="0"/>
          </a:p>
        </p:txBody>
      </p:sp>
      <p:sp>
        <p:nvSpPr>
          <p:cNvPr id="23" name="Text 17"/>
          <p:cNvSpPr/>
          <p:nvPr/>
        </p:nvSpPr>
        <p:spPr>
          <a:xfrm>
            <a:off x="7674173" y="7073027"/>
            <a:ext cx="5924907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Curated cooking video recommendations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6032" y="498157"/>
            <a:ext cx="1614964" cy="327422"/>
          </a:xfrm>
          <a:prstGeom prst="roundRect">
            <a:avLst>
              <a:gd name="adj" fmla="val 18591"/>
            </a:avLst>
          </a:prstGeom>
          <a:noFill/>
          <a:ln w="15240">
            <a:solidFill>
              <a:srgbClr val="FF954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9857" y="589359"/>
            <a:ext cx="144899" cy="1448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7146" y="567690"/>
            <a:ext cx="1150025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86032" y="897969"/>
            <a:ext cx="7270432" cy="676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System Architecture &amp; Pipeline</a:t>
            </a:r>
            <a:endParaRPr lang="en-US" sz="4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032" y="1846659"/>
            <a:ext cx="905708" cy="10869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72834" y="2027753"/>
            <a:ext cx="2604135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Image Upload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2672834" y="2474833"/>
            <a:ext cx="10371534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uploads food image via Streamlit interface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032" y="2933581"/>
            <a:ext cx="905708" cy="10869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72834" y="3114675"/>
            <a:ext cx="2604135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Preprocessing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2672834" y="3561755"/>
            <a:ext cx="10371534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Image normalization and model selection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6032" y="4020503"/>
            <a:ext cx="905708" cy="108692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672834" y="4201597"/>
            <a:ext cx="2604135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Enhancement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2672834" y="4648676"/>
            <a:ext cx="10371534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Nutrition lookup, LLM insights, video retrieval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6032" y="5107424"/>
            <a:ext cx="905708" cy="108692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672834" y="5288518"/>
            <a:ext cx="2604135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Results Display</a:t>
            </a:r>
            <a:endParaRPr lang="en-US" sz="2050" dirty="0"/>
          </a:p>
        </p:txBody>
      </p:sp>
      <p:sp>
        <p:nvSpPr>
          <p:cNvPr id="17" name="Text 10"/>
          <p:cNvSpPr/>
          <p:nvPr/>
        </p:nvSpPr>
        <p:spPr>
          <a:xfrm>
            <a:off x="2672834" y="5735598"/>
            <a:ext cx="10371534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Comprehensive output in web interface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1586032" y="6579156"/>
            <a:ext cx="2604135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Frontend Technology</a:t>
            </a:r>
            <a:endParaRPr lang="en-US" sz="2050" dirty="0"/>
          </a:p>
        </p:txBody>
      </p:sp>
      <p:sp>
        <p:nvSpPr>
          <p:cNvPr id="19" name="Text 12"/>
          <p:cNvSpPr/>
          <p:nvPr/>
        </p:nvSpPr>
        <p:spPr>
          <a:xfrm>
            <a:off x="1586032" y="7098744"/>
            <a:ext cx="5508188" cy="47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</a:t>
            </a:r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powers the interactive web interface with session state management for smooth user experience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7543800" y="6579156"/>
            <a:ext cx="2604135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Backend Technology</a:t>
            </a:r>
            <a:endParaRPr lang="en-US" sz="2050" dirty="0"/>
          </a:p>
        </p:txBody>
      </p:sp>
      <p:sp>
        <p:nvSpPr>
          <p:cNvPr id="21" name="Text 14"/>
          <p:cNvSpPr/>
          <p:nvPr/>
        </p:nvSpPr>
        <p:spPr>
          <a:xfrm>
            <a:off x="7543800" y="7098744"/>
            <a:ext cx="5508188" cy="47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PyTorch + ONNX Runtime</a:t>
            </a:r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enables efficient model training and optimized production inference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7838"/>
            <a:ext cx="8022074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Three Model Architectures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793790" y="1985724"/>
            <a:ext cx="13042821" cy="1664137"/>
          </a:xfrm>
          <a:prstGeom prst="roundRect">
            <a:avLst>
              <a:gd name="adj" fmla="val 5725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016204"/>
            <a:ext cx="907256" cy="1603177"/>
          </a:xfrm>
          <a:prstGeom prst="roundRect">
            <a:avLst>
              <a:gd name="adj" fmla="val 6469"/>
            </a:avLst>
          </a:prstGeom>
          <a:solidFill>
            <a:srgbClr val="FFFF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328" y="2647593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58340" y="224301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LeNet64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958340" y="2802969"/>
            <a:ext cx="1162097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Lightweight CNN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designed for speed. Processes 64×64 images with fast inference times, making it ideal for low-resource environments and edge deployment scenarios.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3876675"/>
            <a:ext cx="13042821" cy="1664137"/>
          </a:xfrm>
          <a:prstGeom prst="roundRect">
            <a:avLst>
              <a:gd name="adj" fmla="val 5725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4270" y="3907155"/>
            <a:ext cx="907256" cy="1603177"/>
          </a:xfrm>
          <a:prstGeom prst="roundRect">
            <a:avLst>
              <a:gd name="adj" fmla="val 6469"/>
            </a:avLst>
          </a:prstGeom>
          <a:solidFill>
            <a:srgbClr val="FFFFF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6328" y="4538543"/>
            <a:ext cx="340162" cy="3401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58340" y="4133969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TinyVGG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1958340" y="4693920"/>
            <a:ext cx="1162097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VGG-inspired architecture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striking the perfect balance. Incorporates BatchNorm and Dropout for regularization while maintaining reasonable computational requirements.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5767626"/>
            <a:ext cx="13042821" cy="1664137"/>
          </a:xfrm>
          <a:prstGeom prst="roundRect">
            <a:avLst>
              <a:gd name="adj" fmla="val 5725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4270" y="5798106"/>
            <a:ext cx="907256" cy="1603177"/>
          </a:xfrm>
          <a:prstGeom prst="roundRect">
            <a:avLst>
              <a:gd name="adj" fmla="val 6469"/>
            </a:avLst>
          </a:prstGeom>
          <a:solidFill>
            <a:srgbClr val="FFFFF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328" y="6429494"/>
            <a:ext cx="340162" cy="3401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58340" y="6024920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ResNet18</a:t>
            </a:r>
            <a:endParaRPr lang="en-US" sz="2550" dirty="0"/>
          </a:p>
        </p:txBody>
      </p:sp>
      <p:sp>
        <p:nvSpPr>
          <p:cNvPr id="17" name="Text 12"/>
          <p:cNvSpPr/>
          <p:nvPr/>
        </p:nvSpPr>
        <p:spPr>
          <a:xfrm>
            <a:off x="1958340" y="6584871"/>
            <a:ext cx="1162097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Transfer learning champion.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Pretrained on ImageNet and fine-tuned for food classification, delivering the highest accuracy among all models tested.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02268"/>
            <a:ext cx="1954411" cy="371832"/>
          </a:xfrm>
          <a:prstGeom prst="roundRect">
            <a:avLst>
              <a:gd name="adj" fmla="val 20497"/>
            </a:avLst>
          </a:prstGeom>
          <a:solidFill>
            <a:srgbClr val="FFE0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097399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070253"/>
            <a:ext cx="1410057" cy="235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PIPELINE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464826"/>
            <a:ext cx="7936468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Training Pipeline &amp; Dataset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793790" y="2403277"/>
            <a:ext cx="3568422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Food-101 Dataset Subset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793790" y="3167301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trained on three diverse food classes from the Food-101 dataset: Pizza, Steak, and Sushi. These categories provide varied visual complexity and real-world applicability.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012049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4378404"/>
            <a:ext cx="4196358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0" name="Text 7"/>
          <p:cNvSpPr/>
          <p:nvPr/>
        </p:nvSpPr>
        <p:spPr>
          <a:xfrm>
            <a:off x="793790" y="4552712"/>
            <a:ext cx="3717131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Exploratory Data Analysis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793790" y="5112663"/>
            <a:ext cx="419635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inspection and visualization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5216962" y="4012049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5216962" y="4378404"/>
            <a:ext cx="4196358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4" name="Text 11"/>
          <p:cNvSpPr/>
          <p:nvPr/>
        </p:nvSpPr>
        <p:spPr>
          <a:xfrm>
            <a:off x="5216962" y="4552712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Model Training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5216962" y="5112663"/>
            <a:ext cx="4196358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PyTorch-based training with validation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9640133" y="4012049"/>
            <a:ext cx="22681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9640133" y="4378404"/>
            <a:ext cx="4196358" cy="3048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8" name="Text 15"/>
          <p:cNvSpPr/>
          <p:nvPr/>
        </p:nvSpPr>
        <p:spPr>
          <a:xfrm>
            <a:off x="9640133" y="4552712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ONNX Conversion</a:t>
            </a:r>
            <a:endParaRPr lang="en-US" sz="2550" dirty="0"/>
          </a:p>
        </p:txBody>
      </p:sp>
      <p:sp>
        <p:nvSpPr>
          <p:cNvPr id="19" name="Text 16"/>
          <p:cNvSpPr/>
          <p:nvPr/>
        </p:nvSpPr>
        <p:spPr>
          <a:xfrm>
            <a:off x="9640133" y="5112663"/>
            <a:ext cx="4196358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 models for optimized inference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1133951" y="6382583"/>
            <a:ext cx="12702659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ONNX?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ONNX Runtime delivers faster inference, enables cross-platform deployment, and provides hardware acceleration support for production environments.</a:t>
            </a:r>
            <a:endParaRPr lang="en-US" sz="1750" dirty="0"/>
          </a:p>
        </p:txBody>
      </p:sp>
      <p:sp>
        <p:nvSpPr>
          <p:cNvPr id="21" name="Shape 18"/>
          <p:cNvSpPr/>
          <p:nvPr/>
        </p:nvSpPr>
        <p:spPr>
          <a:xfrm>
            <a:off x="793790" y="6127433"/>
            <a:ext cx="30480" cy="1099899"/>
          </a:xfrm>
          <a:prstGeom prst="rect">
            <a:avLst/>
          </a:prstGeom>
          <a:solidFill>
            <a:srgbClr val="FF954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5658"/>
            <a:ext cx="8202692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Optimized Inference Engine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793790" y="2757011"/>
            <a:ext cx="4196358" cy="2238494"/>
          </a:xfrm>
          <a:prstGeom prst="roundRect">
            <a:avLst>
              <a:gd name="adj" fmla="val 4256"/>
            </a:avLst>
          </a:prstGeom>
          <a:solidFill>
            <a:srgbClr val="FFFFF4"/>
          </a:solidFill>
          <a:ln w="22860">
            <a:solidFill>
              <a:srgbClr val="FF9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3464" y="3006685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ONNX Runtime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043464" y="3566636"/>
            <a:ext cx="369701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Hardware-agnostic inference with GPU (CUDA) acceleration and automatic CPU fallback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757011"/>
            <a:ext cx="4196358" cy="2238494"/>
          </a:xfrm>
          <a:prstGeom prst="roundRect">
            <a:avLst>
              <a:gd name="adj" fmla="val 4256"/>
            </a:avLst>
          </a:prstGeom>
          <a:solidFill>
            <a:srgbClr val="FFFFF4"/>
          </a:solidFill>
          <a:ln w="22860">
            <a:solidFill>
              <a:srgbClr val="FF95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6636" y="3006685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Numerical Stability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5466636" y="3566636"/>
            <a:ext cx="3697010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 softmax implementation ensuring accurate probability distributions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757011"/>
            <a:ext cx="4196358" cy="2238494"/>
          </a:xfrm>
          <a:prstGeom prst="roundRect">
            <a:avLst>
              <a:gd name="adj" fmla="val 4256"/>
            </a:avLst>
          </a:prstGeom>
          <a:solidFill>
            <a:srgbClr val="FFFFF4"/>
          </a:solidFill>
          <a:ln w="22860">
            <a:solidFill>
              <a:srgbClr val="FF95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89808" y="3006685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Low Latency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889808" y="3566636"/>
            <a:ext cx="369701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Sub-second prediction times for real-time user interaction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335667"/>
            <a:ext cx="4116943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Production-First Design</a:t>
            </a:r>
            <a:endParaRPr lang="en-US" sz="3050" dirty="0"/>
          </a:p>
        </p:txBody>
      </p:sp>
      <p:sp>
        <p:nvSpPr>
          <p:cNvPr id="13" name="Text 11"/>
          <p:cNvSpPr/>
          <p:nvPr/>
        </p:nvSpPr>
        <p:spPr>
          <a:xfrm>
            <a:off x="793790" y="6184344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FoodNet prioritizes inference optimization over training complexity. Our engineering approach focuses on what matters in production: speed, reliability, and user experience.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9212"/>
            <a:ext cx="8041838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Comprehensive Feature Set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3797379"/>
            <a:ext cx="30480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Real-Time Classification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793790" y="4781193"/>
            <a:ext cx="3048000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Instant predictions with confidence visualization through interactive probability charts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125278" y="3797379"/>
            <a:ext cx="3048119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Nutritional Intelligence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125278" y="4781193"/>
            <a:ext cx="3048119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Detailed nutritional data per 100g including calories, macros, and key micronutrients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56884" y="3797379"/>
            <a:ext cx="3048119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AI-Generated Insights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7456884" y="4781193"/>
            <a:ext cx="3048119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Natural language descriptions powered by Groq LLM providing context and details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788491" y="3797379"/>
            <a:ext cx="3048119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Video Recommendations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0788491" y="4781193"/>
            <a:ext cx="3048119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Curated YouTube cooking videos matched to the identified food type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9503" y="621506"/>
            <a:ext cx="1891784" cy="400288"/>
          </a:xfrm>
          <a:prstGeom prst="roundRect">
            <a:avLst>
              <a:gd name="adj" fmla="val 18935"/>
            </a:avLst>
          </a:prstGeom>
          <a:noFill/>
          <a:ln w="15240">
            <a:solidFill>
              <a:srgbClr val="FF954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9998" y="731401"/>
            <a:ext cx="180380" cy="180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0508" y="704374"/>
            <a:ext cx="1320284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89503" y="1111925"/>
            <a:ext cx="8657392" cy="843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Deployment &amp; System Design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789503" y="2518767"/>
            <a:ext cx="5500807" cy="505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Production-Ready Architecture</a:t>
            </a:r>
            <a:endParaRPr lang="en-US" sz="3050" dirty="0"/>
          </a:p>
        </p:txBody>
      </p:sp>
      <p:sp>
        <p:nvSpPr>
          <p:cNvPr id="7" name="Text 4"/>
          <p:cNvSpPr/>
          <p:nvPr/>
        </p:nvSpPr>
        <p:spPr>
          <a:xfrm>
            <a:off x="789503" y="3250049"/>
            <a:ext cx="6930628" cy="117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FoodNet is built with scalability and maintainability at its core. The modular project structure separates concerns cleanly, while Streamlit provides an intuitive web interface with sophisticated session state management.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89503" y="4648557"/>
            <a:ext cx="3242548" cy="421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Design Principles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789503" y="5295424"/>
            <a:ext cx="6930628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 separation of models, utilities, and configuration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89503" y="5667613"/>
            <a:ext cx="6930628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Environment-based API key handling for security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89503" y="6039803"/>
            <a:ext cx="6930628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Extensible architecture for future enhancements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89503" y="6411992"/>
            <a:ext cx="6930628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 state management for seamless UX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8278058" y="2546985"/>
            <a:ext cx="5570458" cy="1452086"/>
          </a:xfrm>
          <a:prstGeom prst="roundRect">
            <a:avLst>
              <a:gd name="adj" fmla="val 6524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34043" y="2802969"/>
            <a:ext cx="3242548" cy="421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Streamlit Frontend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8534043" y="3449836"/>
            <a:ext cx="5058489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web application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8278058" y="4224576"/>
            <a:ext cx="5570458" cy="1452086"/>
          </a:xfrm>
          <a:prstGeom prst="roundRect">
            <a:avLst>
              <a:gd name="adj" fmla="val 6524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34043" y="4480560"/>
            <a:ext cx="3242548" cy="421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Modular Backend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8534043" y="5127427"/>
            <a:ext cx="5058489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Organized, maintainable codebase</a:t>
            </a:r>
            <a:endParaRPr lang="en-US" sz="1750" dirty="0"/>
          </a:p>
        </p:txBody>
      </p:sp>
      <p:sp>
        <p:nvSpPr>
          <p:cNvPr id="19" name="Shape 16"/>
          <p:cNvSpPr/>
          <p:nvPr/>
        </p:nvSpPr>
        <p:spPr>
          <a:xfrm>
            <a:off x="8278058" y="5902166"/>
            <a:ext cx="5570458" cy="1452086"/>
          </a:xfrm>
          <a:prstGeom prst="roundRect">
            <a:avLst>
              <a:gd name="adj" fmla="val 6524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34043" y="6158151"/>
            <a:ext cx="3242548" cy="421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API Integration</a:t>
            </a:r>
            <a:endParaRPr lang="en-US" sz="2550" dirty="0"/>
          </a:p>
        </p:txBody>
      </p:sp>
      <p:sp>
        <p:nvSpPr>
          <p:cNvPr id="21" name="Text 18"/>
          <p:cNvSpPr/>
          <p:nvPr/>
        </p:nvSpPr>
        <p:spPr>
          <a:xfrm>
            <a:off x="8534043" y="6805017"/>
            <a:ext cx="5058489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Groq LLM + YouTube Data API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6459" y="532090"/>
            <a:ext cx="7735253" cy="723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50"/>
              </a:lnSpc>
              <a:buNone/>
            </a:pPr>
            <a:r>
              <a:rPr lang="en-US" sz="43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Results, Impact &amp; Future Vision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1196459" y="1641991"/>
            <a:ext cx="6021943" cy="3196709"/>
          </a:xfrm>
          <a:prstGeom prst="roundRect">
            <a:avLst>
              <a:gd name="adj" fmla="val 2542"/>
            </a:avLst>
          </a:prstGeom>
          <a:solidFill>
            <a:srgbClr val="FFFFF4"/>
          </a:solidFill>
          <a:ln w="22860">
            <a:solidFill>
              <a:srgbClr val="7D3E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38651" y="1858208"/>
            <a:ext cx="3337441" cy="433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Challenges Overcome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2677" y="2407920"/>
            <a:ext cx="5589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compute resources requiring strategic optimization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2677" y="2978468"/>
            <a:ext cx="5589508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scope constrained to 3 food classes initially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2677" y="3297555"/>
            <a:ext cx="5589508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Balancing model complexity with inference speed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11760" y="1641991"/>
            <a:ext cx="6022062" cy="3196709"/>
          </a:xfrm>
          <a:prstGeom prst="roundRect">
            <a:avLst>
              <a:gd name="adj" fmla="val 2542"/>
            </a:avLst>
          </a:prstGeom>
          <a:solidFill>
            <a:srgbClr val="FFFFF4"/>
          </a:solidFill>
          <a:ln w="22860">
            <a:solidFill>
              <a:srgbClr val="FF95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54070" y="1858208"/>
            <a:ext cx="3337441" cy="433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Achievements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627977" y="2407920"/>
            <a:ext cx="55896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Multi-model food classification system with 3 CNN architectures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7977" y="2978468"/>
            <a:ext cx="55896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ONNX-optimized inference for production deployment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27977" y="3549015"/>
            <a:ext cx="55896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Seamless integration of computer vision, LLMs, and external APIs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27977" y="4119563"/>
            <a:ext cx="55896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pipeline from upload to actionable insights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96459" y="5128855"/>
            <a:ext cx="3337441" cy="433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Future Roadmap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196459" y="5961578"/>
            <a:ext cx="96679" cy="96679"/>
          </a:xfrm>
          <a:prstGeom prst="roundRect">
            <a:avLst>
              <a:gd name="adj" fmla="val 472905"/>
            </a:avLst>
          </a:prstGeom>
          <a:solidFill>
            <a:srgbClr val="FF954F"/>
          </a:solidFill>
          <a:ln/>
        </p:spPr>
      </p:sp>
      <p:sp>
        <p:nvSpPr>
          <p:cNvPr id="16" name="Text 14"/>
          <p:cNvSpPr/>
          <p:nvPr/>
        </p:nvSpPr>
        <p:spPr>
          <a:xfrm>
            <a:off x="1486495" y="5852755"/>
            <a:ext cx="2781181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Full Food-101 Support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1486495" y="6330196"/>
            <a:ext cx="5707737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 to all 101 food categories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36048" y="5961578"/>
            <a:ext cx="96679" cy="96679"/>
          </a:xfrm>
          <a:prstGeom prst="roundRect">
            <a:avLst>
              <a:gd name="adj" fmla="val 472905"/>
            </a:avLst>
          </a:prstGeom>
          <a:solidFill>
            <a:srgbClr val="FF954F"/>
          </a:solidFill>
          <a:ln/>
        </p:spPr>
      </p:sp>
      <p:sp>
        <p:nvSpPr>
          <p:cNvPr id="19" name="Text 17"/>
          <p:cNvSpPr/>
          <p:nvPr/>
        </p:nvSpPr>
        <p:spPr>
          <a:xfrm>
            <a:off x="7726085" y="5852755"/>
            <a:ext cx="2781181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Model Explainability</a:t>
            </a:r>
            <a:endParaRPr lang="en-US" sz="2150" dirty="0"/>
          </a:p>
        </p:txBody>
      </p:sp>
      <p:sp>
        <p:nvSpPr>
          <p:cNvPr id="20" name="Text 18"/>
          <p:cNvSpPr/>
          <p:nvPr/>
        </p:nvSpPr>
        <p:spPr>
          <a:xfrm>
            <a:off x="7726085" y="6330196"/>
            <a:ext cx="5707737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 Grad-CAM visualization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196459" y="7077313"/>
            <a:ext cx="96679" cy="96679"/>
          </a:xfrm>
          <a:prstGeom prst="roundRect">
            <a:avLst>
              <a:gd name="adj" fmla="val 472905"/>
            </a:avLst>
          </a:prstGeom>
          <a:solidFill>
            <a:srgbClr val="FF954F"/>
          </a:solidFill>
          <a:ln/>
        </p:spPr>
      </p:sp>
      <p:sp>
        <p:nvSpPr>
          <p:cNvPr id="22" name="Text 20"/>
          <p:cNvSpPr/>
          <p:nvPr/>
        </p:nvSpPr>
        <p:spPr>
          <a:xfrm>
            <a:off x="1486495" y="6968490"/>
            <a:ext cx="2781181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Mobile Deployment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1486495" y="7445931"/>
            <a:ext cx="5707737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Native iOS and Android applications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436048" y="7077313"/>
            <a:ext cx="96679" cy="96679"/>
          </a:xfrm>
          <a:prstGeom prst="roundRect">
            <a:avLst>
              <a:gd name="adj" fmla="val 472905"/>
            </a:avLst>
          </a:prstGeom>
          <a:solidFill>
            <a:srgbClr val="FF954F"/>
          </a:solidFill>
          <a:ln/>
        </p:spPr>
      </p:sp>
      <p:sp>
        <p:nvSpPr>
          <p:cNvPr id="25" name="Text 23"/>
          <p:cNvSpPr/>
          <p:nvPr/>
        </p:nvSpPr>
        <p:spPr>
          <a:xfrm>
            <a:off x="7726085" y="6968490"/>
            <a:ext cx="2781181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Cloud Scaling</a:t>
            </a:r>
            <a:endParaRPr lang="en-US" sz="2150" dirty="0"/>
          </a:p>
        </p:txBody>
      </p:sp>
      <p:sp>
        <p:nvSpPr>
          <p:cNvPr id="26" name="Text 24"/>
          <p:cNvSpPr/>
          <p:nvPr/>
        </p:nvSpPr>
        <p:spPr>
          <a:xfrm>
            <a:off x="7726085" y="7445931"/>
            <a:ext cx="5707737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Docker containerization and cloud infrastructure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9613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User Interface</a:t>
            </a:r>
            <a:endParaRPr lang="en-US" sz="5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52650"/>
            <a:ext cx="2845594" cy="1373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780830"/>
            <a:ext cx="2845594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793790" y="4431506"/>
            <a:ext cx="284559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406" y="2152650"/>
            <a:ext cx="2845594" cy="13789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0406" y="3786783"/>
            <a:ext cx="2845594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endParaRPr lang="en-US" sz="2550" dirty="0"/>
          </a:p>
        </p:txBody>
      </p:sp>
      <p:sp>
        <p:nvSpPr>
          <p:cNvPr id="8" name="Text 4"/>
          <p:cNvSpPr/>
          <p:nvPr/>
        </p:nvSpPr>
        <p:spPr>
          <a:xfrm>
            <a:off x="4200406" y="4437459"/>
            <a:ext cx="284559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022" y="2152650"/>
            <a:ext cx="2845594" cy="137898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07022" y="3786783"/>
            <a:ext cx="2845594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endParaRPr lang="en-US" sz="2550" dirty="0"/>
          </a:p>
        </p:txBody>
      </p:sp>
      <p:sp>
        <p:nvSpPr>
          <p:cNvPr id="11" name="Text 6"/>
          <p:cNvSpPr/>
          <p:nvPr/>
        </p:nvSpPr>
        <p:spPr>
          <a:xfrm>
            <a:off x="7607022" y="4437459"/>
            <a:ext cx="2845594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638" y="2152650"/>
            <a:ext cx="2845594" cy="137898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33951" y="5531644"/>
            <a:ext cx="3912751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Conclusion</a:t>
            </a:r>
            <a:endParaRPr lang="en-US" sz="3050" dirty="0"/>
          </a:p>
        </p:txBody>
      </p:sp>
      <p:sp>
        <p:nvSpPr>
          <p:cNvPr id="14" name="Text 8"/>
          <p:cNvSpPr/>
          <p:nvPr/>
        </p:nvSpPr>
        <p:spPr>
          <a:xfrm>
            <a:off x="1133951" y="6380321"/>
            <a:ext cx="12702659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FoodNet demonstrates a production-ready approach to intelligent food recognition, combining accuracy, speed, and user value. It provides a strong foundation for real-world applications in nutrition, health, and culinary technology.</a:t>
            </a:r>
            <a:endParaRPr lang="en-US" sz="1750" dirty="0"/>
          </a:p>
        </p:txBody>
      </p:sp>
      <p:sp>
        <p:nvSpPr>
          <p:cNvPr id="15" name="Shape 9"/>
          <p:cNvSpPr/>
          <p:nvPr/>
        </p:nvSpPr>
        <p:spPr>
          <a:xfrm>
            <a:off x="793790" y="5191482"/>
            <a:ext cx="30480" cy="2328386"/>
          </a:xfrm>
          <a:prstGeom prst="rect">
            <a:avLst/>
          </a:prstGeom>
          <a:solidFill>
            <a:srgbClr val="FF954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2026-01-06T12:28:55Z</dcterms:created>
  <dcterms:modified xsi:type="dcterms:W3CDTF">2026-01-06T12:28:55Z</dcterms:modified>
</cp:coreProperties>
</file>