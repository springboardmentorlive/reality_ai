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8229600" cx="14630400"/>
  <p:notesSz cx="8229600" cy="14630400"/>
  <p:embeddedFontLst>
    <p:embeddedFont>
      <p:font typeface="Marcellus"/>
      <p:regular r:id="rId16"/>
    </p:embeddedFont>
    <p:embeddedFont>
      <p:font typeface="Montserrat"/>
      <p:regular r:id="rId17"/>
      <p:bold r:id="rId18"/>
      <p:italic r:id="rId19"/>
      <p:boldItalic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Montserrat-boldItalic.fntdata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Montserrat-regular.fntdata"/><Relationship Id="rId16" Type="http://schemas.openxmlformats.org/officeDocument/2006/relationships/font" Target="fonts/Marcellus-regular.fntdata"/><Relationship Id="rId5" Type="http://schemas.openxmlformats.org/officeDocument/2006/relationships/slide" Target="slides/slide1.xml"/><Relationship Id="rId19" Type="http://schemas.openxmlformats.org/officeDocument/2006/relationships/font" Target="fonts/Montserrat-italic.fntdata"/><Relationship Id="rId6" Type="http://schemas.openxmlformats.org/officeDocument/2006/relationships/slide" Target="slides/slide2.xml"/><Relationship Id="rId18" Type="http://schemas.openxmlformats.org/officeDocument/2006/relationships/font" Target="fonts/Montserrat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6" name="Google Shape;66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3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6" name="Google Shape;86;p3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3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4" name="Google Shape;114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2" name="Google Shape;162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3" name="Google Shape;163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7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7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9" name="Google Shape;189;p7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1" name="Google Shape;221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2" name="Google Shape;222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10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7" name="Google Shape;247;p10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8" name="Google Shape;278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image" Target="../media/image6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3" name="Google Shape;13;p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" name="Google Shape;16;p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7" name="Google Shape;17;p3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1" name="Google Shape;21;p4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5" name="Google Shape;25;p5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" name="Google Shape;28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9" name="Google Shape;29;p6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" name="Google Shape;32;p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3" name="Google Shape;33;p7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37" name="Google Shape;37;p8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1" name="Google Shape;41;p9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1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5" name="Google Shape;45;p10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1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49" name="Google Shape;49;p11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DEC8AB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1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4">
              <a:alpha val="94901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53" name="Google Shape;53;p12">
            <a:hlinkClick r:id="rId2"/>
          </p:cNvPr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39215" y="7749540"/>
            <a:ext cx="1722605" cy="41148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3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7.png"/><Relationship Id="rId4" Type="http://schemas.openxmlformats.org/officeDocument/2006/relationships/image" Target="../media/image21.png"/><Relationship Id="rId5" Type="http://schemas.openxmlformats.org/officeDocument/2006/relationships/image" Target="../media/image29.png"/><Relationship Id="rId6" Type="http://schemas.openxmlformats.org/officeDocument/2006/relationships/image" Target="../media/image2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15.png"/><Relationship Id="rId5" Type="http://schemas.openxmlformats.org/officeDocument/2006/relationships/image" Target="../media/image20.png"/><Relationship Id="rId6" Type="http://schemas.openxmlformats.org/officeDocument/2006/relationships/image" Target="../media/image14.png"/><Relationship Id="rId7" Type="http://schemas.openxmlformats.org/officeDocument/2006/relationships/image" Target="../media/image25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0.png"/><Relationship Id="rId4" Type="http://schemas.openxmlformats.org/officeDocument/2006/relationships/image" Target="../media/image18.png"/><Relationship Id="rId5" Type="http://schemas.openxmlformats.org/officeDocument/2006/relationships/image" Target="../media/image16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9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1.png"/><Relationship Id="rId4" Type="http://schemas.openxmlformats.org/officeDocument/2006/relationships/image" Target="../media/image22.png"/><Relationship Id="rId5" Type="http://schemas.openxmlformats.org/officeDocument/2006/relationships/image" Target="../media/image24.png"/><Relationship Id="rId6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60" name="Google Shape;60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76072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61" name="Google Shape;61;p14"/>
          <p:cNvSpPr/>
          <p:nvPr/>
        </p:nvSpPr>
        <p:spPr>
          <a:xfrm>
            <a:off x="6280190" y="2378273"/>
            <a:ext cx="7556421" cy="2543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FoodNet: Food Recognition using Deep Learning</a:t>
            </a:r>
            <a:endParaRPr b="0" i="0" sz="5100" u="none" cap="none" strike="noStrike"/>
          </a:p>
        </p:txBody>
      </p:sp>
      <p:sp>
        <p:nvSpPr>
          <p:cNvPr id="62" name="Google Shape;62;p14"/>
          <p:cNvSpPr/>
          <p:nvPr/>
        </p:nvSpPr>
        <p:spPr>
          <a:xfrm>
            <a:off x="6280190" y="5261610"/>
            <a:ext cx="75564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An end-to-end AI-powered web application for food image classification and intelligent analysis</a:t>
            </a:r>
            <a:endParaRPr b="0" i="0" sz="1750" u="none" cap="none" strike="noStrike"/>
          </a:p>
        </p:txBody>
      </p:sp>
      <p:sp>
        <p:nvSpPr>
          <p:cNvPr id="63" name="Google Shape;63;p14"/>
          <p:cNvSpPr/>
          <p:nvPr/>
        </p:nvSpPr>
        <p:spPr>
          <a:xfrm>
            <a:off x="12031800" y="6940400"/>
            <a:ext cx="2479200" cy="1187100"/>
          </a:xfrm>
          <a:prstGeom prst="rect">
            <a:avLst/>
          </a:prstGeom>
          <a:solidFill>
            <a:srgbClr val="FDFCF1"/>
          </a:solidFill>
          <a:ln cap="flat" cmpd="sng" w="9525">
            <a:solidFill>
              <a:srgbClr val="FDF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/>
          <p:nvPr/>
        </p:nvSpPr>
        <p:spPr>
          <a:xfrm>
            <a:off x="793790" y="1527215"/>
            <a:ext cx="1694259" cy="371832"/>
          </a:xfrm>
          <a:prstGeom prst="roundRect">
            <a:avLst>
              <a:gd fmla="val 20497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70" name="Google Shape;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878" y="1622346"/>
            <a:ext cx="181451" cy="1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71;p15"/>
          <p:cNvSpPr/>
          <p:nvPr/>
        </p:nvSpPr>
        <p:spPr>
          <a:xfrm>
            <a:off x="1202055" y="1595199"/>
            <a:ext cx="1149906" cy="235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CHALLENGE</a:t>
            </a:r>
            <a:endParaRPr b="0" i="0" sz="1400" u="none" cap="none" strike="noStrike"/>
          </a:p>
        </p:txBody>
      </p:sp>
      <p:sp>
        <p:nvSpPr>
          <p:cNvPr id="72" name="Google Shape;72;p15"/>
          <p:cNvSpPr/>
          <p:nvPr/>
        </p:nvSpPr>
        <p:spPr>
          <a:xfrm>
            <a:off x="793790" y="1989773"/>
            <a:ext cx="7928134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The Problem We're Solving</a:t>
            </a:r>
            <a:endParaRPr b="0" i="0" sz="5100" u="none" cap="none" strike="noStrike"/>
          </a:p>
        </p:txBody>
      </p:sp>
      <p:sp>
        <p:nvSpPr>
          <p:cNvPr id="73" name="Google Shape;73;p15"/>
          <p:cNvSpPr/>
          <p:nvPr/>
        </p:nvSpPr>
        <p:spPr>
          <a:xfrm>
            <a:off x="793790" y="3404473"/>
            <a:ext cx="4642604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Why Food Recognition Matters</a:t>
            </a:r>
            <a:endParaRPr b="0" i="0" sz="2550" u="none" cap="none" strike="noStrike"/>
          </a:p>
        </p:txBody>
      </p:sp>
      <p:sp>
        <p:nvSpPr>
          <p:cNvPr id="74" name="Google Shape;74;p15"/>
          <p:cNvSpPr/>
          <p:nvPr/>
        </p:nvSpPr>
        <p:spPr>
          <a:xfrm>
            <a:off x="793790" y="4055150"/>
            <a:ext cx="6244709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Food image recognition powers next-generation applications in nutrition tracking, cooking assistance, and smart health platforms. Users need more than just predictions—they need actionable insights.</a:t>
            </a:r>
            <a:endParaRPr b="0" i="0" sz="1750" u="none" cap="none" strike="noStrike"/>
          </a:p>
        </p:txBody>
      </p:sp>
      <p:sp>
        <p:nvSpPr>
          <p:cNvPr id="75" name="Google Shape;75;p15"/>
          <p:cNvSpPr/>
          <p:nvPr/>
        </p:nvSpPr>
        <p:spPr>
          <a:xfrm>
            <a:off x="7599521" y="3404473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Current System Gaps</a:t>
            </a:r>
            <a:endParaRPr b="0" i="0" sz="2550" u="none" cap="none" strike="noStrike"/>
          </a:p>
        </p:txBody>
      </p:sp>
      <p:sp>
        <p:nvSpPr>
          <p:cNvPr id="76" name="Google Shape;76;p15"/>
          <p:cNvSpPr/>
          <p:nvPr/>
        </p:nvSpPr>
        <p:spPr>
          <a:xfrm>
            <a:off x="7599521" y="4055150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Limited to basic classification only</a:t>
            </a:r>
            <a:endParaRPr b="0" i="0" sz="1750" u="none" cap="none" strike="noStrike"/>
          </a:p>
        </p:txBody>
      </p:sp>
      <p:sp>
        <p:nvSpPr>
          <p:cNvPr id="77" name="Google Shape;77;p15"/>
          <p:cNvSpPr/>
          <p:nvPr/>
        </p:nvSpPr>
        <p:spPr>
          <a:xfrm>
            <a:off x="7599521" y="4429244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No model comparison capabilities</a:t>
            </a:r>
            <a:endParaRPr b="0" i="0" sz="1750" u="none" cap="none" strike="noStrike"/>
          </a:p>
        </p:txBody>
      </p:sp>
      <p:sp>
        <p:nvSpPr>
          <p:cNvPr id="78" name="Google Shape;78;p15"/>
          <p:cNvSpPr/>
          <p:nvPr/>
        </p:nvSpPr>
        <p:spPr>
          <a:xfrm>
            <a:off x="7599521" y="4803338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Missing deployment optimization</a:t>
            </a:r>
            <a:endParaRPr b="0" i="0" sz="1750" u="none" cap="none" strike="noStrike"/>
          </a:p>
        </p:txBody>
      </p:sp>
      <p:sp>
        <p:nvSpPr>
          <p:cNvPr id="79" name="Google Shape;79;p15"/>
          <p:cNvSpPr/>
          <p:nvPr/>
        </p:nvSpPr>
        <p:spPr>
          <a:xfrm>
            <a:off x="7599521" y="5177433"/>
            <a:ext cx="6244709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Lack of contextual information</a:t>
            </a:r>
            <a:endParaRPr b="0" i="0" sz="1750" u="none" cap="none" strike="noStrike"/>
          </a:p>
        </p:txBody>
      </p:sp>
      <p:sp>
        <p:nvSpPr>
          <p:cNvPr id="80" name="Google Shape;80;p15"/>
          <p:cNvSpPr/>
          <p:nvPr/>
        </p:nvSpPr>
        <p:spPr>
          <a:xfrm>
            <a:off x="793790" y="5806678"/>
            <a:ext cx="13042821" cy="895707"/>
          </a:xfrm>
          <a:prstGeom prst="roundRect">
            <a:avLst>
              <a:gd fmla="val 10636" name="adj"/>
            </a:avLst>
          </a:prstGeom>
          <a:solidFill>
            <a:srgbClr val="FFD1B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81" name="Google Shape;8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20604" y="6120289"/>
            <a:ext cx="283488" cy="226814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5"/>
          <p:cNvSpPr/>
          <p:nvPr/>
        </p:nvSpPr>
        <p:spPr>
          <a:xfrm>
            <a:off x="1530906" y="6090166"/>
            <a:ext cx="12078891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000000"/>
                </a:solidFill>
                <a:latin typeface="Montserrat"/>
                <a:ea typeface="Montserrat"/>
                <a:cs typeface="Montserrat"/>
                <a:sym typeface="Montserrat"/>
              </a:rPr>
              <a:t>Our challenge: Build a system that is accurate, fast, deployable, and genuinely informative for end users</a:t>
            </a:r>
            <a:endParaRPr b="0" i="0" sz="1750" u="none" cap="none" strike="noStrike"/>
          </a:p>
        </p:txBody>
      </p:sp>
      <p:sp>
        <p:nvSpPr>
          <p:cNvPr id="83" name="Google Shape;83;p15"/>
          <p:cNvSpPr/>
          <p:nvPr/>
        </p:nvSpPr>
        <p:spPr>
          <a:xfrm>
            <a:off x="12031800" y="6940400"/>
            <a:ext cx="2479200" cy="1187100"/>
          </a:xfrm>
          <a:prstGeom prst="rect">
            <a:avLst/>
          </a:prstGeom>
          <a:solidFill>
            <a:srgbClr val="FDFCF1"/>
          </a:solidFill>
          <a:ln cap="flat" cmpd="sng" w="9525">
            <a:solidFill>
              <a:srgbClr val="FDF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6"/>
          <p:cNvSpPr/>
          <p:nvPr/>
        </p:nvSpPr>
        <p:spPr>
          <a:xfrm>
            <a:off x="784384" y="618292"/>
            <a:ext cx="6443663" cy="83760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70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050"/>
              <a:buFont typeface="Marcellus"/>
              <a:buNone/>
            </a:pPr>
            <a:r>
              <a:rPr b="0" i="0" lang="en-US" sz="5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Introducing FoodNet</a:t>
            </a:r>
            <a:endParaRPr b="0" i="0" sz="5050" u="none" cap="none" strike="noStrike"/>
          </a:p>
        </p:txBody>
      </p:sp>
      <p:sp>
        <p:nvSpPr>
          <p:cNvPr id="90" name="Google Shape;90;p16"/>
          <p:cNvSpPr/>
          <p:nvPr/>
        </p:nvSpPr>
        <p:spPr>
          <a:xfrm>
            <a:off x="784384" y="1792010"/>
            <a:ext cx="13061633" cy="8736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FoodNet transforms food image recognition from simple classification into a comprehensive intelligence platform. Users upload images, select from multiple trained CNN models, and receive real-time predictions enhanced with confidence scores, nutritional data, AI-generated insights, and cooking video recommendations.</a:t>
            </a:r>
            <a:endParaRPr b="0" i="0" sz="1750" u="none" cap="none" strike="noStrike"/>
          </a:p>
        </p:txBody>
      </p:sp>
      <p:sp>
        <p:nvSpPr>
          <p:cNvPr id="91" name="Google Shape;91;p16"/>
          <p:cNvSpPr/>
          <p:nvPr/>
        </p:nvSpPr>
        <p:spPr>
          <a:xfrm>
            <a:off x="784384" y="2917746"/>
            <a:ext cx="6418778" cy="2234684"/>
          </a:xfrm>
          <a:prstGeom prst="roundRect">
            <a:avLst>
              <a:gd fmla="val 4212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6"/>
          <p:cNvSpPr/>
          <p:nvPr/>
        </p:nvSpPr>
        <p:spPr>
          <a:xfrm>
            <a:off x="1031319" y="3164681"/>
            <a:ext cx="672346" cy="672346"/>
          </a:xfrm>
          <a:prstGeom prst="roundRect">
            <a:avLst>
              <a:gd fmla="val 135987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3" name="Google Shape;9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16223" y="3349585"/>
            <a:ext cx="302538" cy="3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94" name="Google Shape;94;p16"/>
          <p:cNvSpPr/>
          <p:nvPr/>
        </p:nvSpPr>
        <p:spPr>
          <a:xfrm>
            <a:off x="1031319" y="4061103"/>
            <a:ext cx="3221831" cy="418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00"/>
              <a:buFont typeface="Marcellus"/>
              <a:buNone/>
            </a:pPr>
            <a:r>
              <a:rPr b="0" i="0" lang="en-US" sz="25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Upload &amp; Classify</a:t>
            </a:r>
            <a:endParaRPr b="0" i="0" sz="2500" u="none" cap="none" strike="noStrike"/>
          </a:p>
        </p:txBody>
      </p:sp>
      <p:sp>
        <p:nvSpPr>
          <p:cNvPr id="95" name="Google Shape;95;p16"/>
          <p:cNvSpPr/>
          <p:nvPr/>
        </p:nvSpPr>
        <p:spPr>
          <a:xfrm>
            <a:off x="1031319" y="4614267"/>
            <a:ext cx="5924907" cy="291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Real-time food image recognition</a:t>
            </a:r>
            <a:endParaRPr b="0" i="0" sz="1750" u="none" cap="none" strike="noStrike"/>
          </a:p>
        </p:txBody>
      </p:sp>
      <p:sp>
        <p:nvSpPr>
          <p:cNvPr id="96" name="Google Shape;96;p16"/>
          <p:cNvSpPr/>
          <p:nvPr/>
        </p:nvSpPr>
        <p:spPr>
          <a:xfrm>
            <a:off x="7427238" y="2917746"/>
            <a:ext cx="6418778" cy="2234684"/>
          </a:xfrm>
          <a:prstGeom prst="roundRect">
            <a:avLst>
              <a:gd fmla="val 4212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16"/>
          <p:cNvSpPr/>
          <p:nvPr/>
        </p:nvSpPr>
        <p:spPr>
          <a:xfrm>
            <a:off x="7674173" y="3164681"/>
            <a:ext cx="672346" cy="672346"/>
          </a:xfrm>
          <a:prstGeom prst="roundRect">
            <a:avLst>
              <a:gd fmla="val 135987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98" name="Google Shape;9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59077" y="3349585"/>
            <a:ext cx="302538" cy="3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99" name="Google Shape;99;p16"/>
          <p:cNvSpPr/>
          <p:nvPr/>
        </p:nvSpPr>
        <p:spPr>
          <a:xfrm>
            <a:off x="7674173" y="4061103"/>
            <a:ext cx="3221831" cy="418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00"/>
              <a:buFont typeface="Marcellus"/>
              <a:buNone/>
            </a:pPr>
            <a:r>
              <a:rPr b="0" i="0" lang="en-US" sz="25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Model Selection</a:t>
            </a:r>
            <a:endParaRPr b="0" i="0" sz="2500" u="none" cap="none" strike="noStrike"/>
          </a:p>
        </p:txBody>
      </p:sp>
      <p:sp>
        <p:nvSpPr>
          <p:cNvPr id="100" name="Google Shape;100;p16"/>
          <p:cNvSpPr/>
          <p:nvPr/>
        </p:nvSpPr>
        <p:spPr>
          <a:xfrm>
            <a:off x="7674173" y="4614267"/>
            <a:ext cx="5924907" cy="291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Choose from multiple CNN architectures</a:t>
            </a:r>
            <a:endParaRPr b="0" i="0" sz="1750" u="none" cap="none" strike="noStrike"/>
          </a:p>
        </p:txBody>
      </p:sp>
      <p:sp>
        <p:nvSpPr>
          <p:cNvPr id="101" name="Google Shape;101;p16"/>
          <p:cNvSpPr/>
          <p:nvPr/>
        </p:nvSpPr>
        <p:spPr>
          <a:xfrm>
            <a:off x="784384" y="5376505"/>
            <a:ext cx="6418778" cy="2234684"/>
          </a:xfrm>
          <a:prstGeom prst="roundRect">
            <a:avLst>
              <a:gd fmla="val 4212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16"/>
          <p:cNvSpPr/>
          <p:nvPr/>
        </p:nvSpPr>
        <p:spPr>
          <a:xfrm>
            <a:off x="1031319" y="5623441"/>
            <a:ext cx="672346" cy="672346"/>
          </a:xfrm>
          <a:prstGeom prst="roundRect">
            <a:avLst>
              <a:gd fmla="val 135987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3" name="Google Shape;103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16223" y="5808345"/>
            <a:ext cx="302538" cy="3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104" name="Google Shape;104;p16"/>
          <p:cNvSpPr/>
          <p:nvPr/>
        </p:nvSpPr>
        <p:spPr>
          <a:xfrm>
            <a:off x="1031319" y="6519863"/>
            <a:ext cx="3221831" cy="418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00"/>
              <a:buFont typeface="Marcellus"/>
              <a:buNone/>
            </a:pPr>
            <a:r>
              <a:rPr b="0" i="0" lang="en-US" sz="25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Smart Insights</a:t>
            </a:r>
            <a:endParaRPr b="0" i="0" sz="2500" u="none" cap="none" strike="noStrike"/>
          </a:p>
        </p:txBody>
      </p:sp>
      <p:sp>
        <p:nvSpPr>
          <p:cNvPr id="105" name="Google Shape;105;p16"/>
          <p:cNvSpPr/>
          <p:nvPr/>
        </p:nvSpPr>
        <p:spPr>
          <a:xfrm>
            <a:off x="1031319" y="7073027"/>
            <a:ext cx="5924907" cy="291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Nutrition data and AI descriptions</a:t>
            </a:r>
            <a:endParaRPr b="0" i="0" sz="1750" u="none" cap="none" strike="noStrike"/>
          </a:p>
        </p:txBody>
      </p:sp>
      <p:sp>
        <p:nvSpPr>
          <p:cNvPr id="106" name="Google Shape;106;p16"/>
          <p:cNvSpPr/>
          <p:nvPr/>
        </p:nvSpPr>
        <p:spPr>
          <a:xfrm>
            <a:off x="7427238" y="5376505"/>
            <a:ext cx="6418778" cy="2234684"/>
          </a:xfrm>
          <a:prstGeom prst="roundRect">
            <a:avLst>
              <a:gd fmla="val 4212" name="adj"/>
            </a:avLst>
          </a:prstGeom>
          <a:solidFill>
            <a:srgbClr val="FFFFF4"/>
          </a:solidFill>
          <a:ln cap="flat" cmpd="sng" w="22850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6"/>
          <p:cNvSpPr/>
          <p:nvPr/>
        </p:nvSpPr>
        <p:spPr>
          <a:xfrm>
            <a:off x="7674173" y="5623441"/>
            <a:ext cx="672346" cy="672346"/>
          </a:xfrm>
          <a:prstGeom prst="roundRect">
            <a:avLst>
              <a:gd fmla="val 13598780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08" name="Google Shape;108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59077" y="5808345"/>
            <a:ext cx="302538" cy="302538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6"/>
          <p:cNvSpPr/>
          <p:nvPr/>
        </p:nvSpPr>
        <p:spPr>
          <a:xfrm>
            <a:off x="7674173" y="6519863"/>
            <a:ext cx="3221831" cy="4187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00"/>
              <a:buFont typeface="Marcellus"/>
              <a:buNone/>
            </a:pPr>
            <a:r>
              <a:rPr b="0" i="0" lang="en-US" sz="25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Learn More</a:t>
            </a:r>
            <a:endParaRPr b="0" i="0" sz="2500" u="none" cap="none" strike="noStrike"/>
          </a:p>
        </p:txBody>
      </p:sp>
      <p:sp>
        <p:nvSpPr>
          <p:cNvPr id="110" name="Google Shape;110;p16"/>
          <p:cNvSpPr/>
          <p:nvPr/>
        </p:nvSpPr>
        <p:spPr>
          <a:xfrm>
            <a:off x="7674173" y="7073027"/>
            <a:ext cx="5924907" cy="29122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Curated cooking video recommendations</a:t>
            </a:r>
            <a:endParaRPr b="0" i="0" sz="1750" u="none" cap="none" strike="noStrike"/>
          </a:p>
        </p:txBody>
      </p:sp>
      <p:sp>
        <p:nvSpPr>
          <p:cNvPr id="111" name="Google Shape;111;p16"/>
          <p:cNvSpPr/>
          <p:nvPr/>
        </p:nvSpPr>
        <p:spPr>
          <a:xfrm>
            <a:off x="12628150" y="7611200"/>
            <a:ext cx="1882800" cy="516300"/>
          </a:xfrm>
          <a:prstGeom prst="rect">
            <a:avLst/>
          </a:prstGeom>
          <a:solidFill>
            <a:srgbClr val="FDFCF1"/>
          </a:solidFill>
          <a:ln cap="flat" cmpd="sng" w="9525">
            <a:solidFill>
              <a:srgbClr val="FDF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7"/>
          <p:cNvSpPr/>
          <p:nvPr/>
        </p:nvSpPr>
        <p:spPr>
          <a:xfrm>
            <a:off x="1586032" y="498157"/>
            <a:ext cx="1614964" cy="327422"/>
          </a:xfrm>
          <a:prstGeom prst="roundRect">
            <a:avLst>
              <a:gd fmla="val 18591" name="adj"/>
            </a:avLst>
          </a:prstGeom>
          <a:noFill/>
          <a:ln cap="flat" cmpd="sng" w="15225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18" name="Google Shape;118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09857" y="589359"/>
            <a:ext cx="144899" cy="144899"/>
          </a:xfrm>
          <a:prstGeom prst="rect">
            <a:avLst/>
          </a:prstGeom>
          <a:noFill/>
          <a:ln>
            <a:noFill/>
          </a:ln>
        </p:spPr>
      </p:pic>
      <p:sp>
        <p:nvSpPr>
          <p:cNvPr id="119" name="Google Shape;119;p17"/>
          <p:cNvSpPr/>
          <p:nvPr/>
        </p:nvSpPr>
        <p:spPr>
          <a:xfrm>
            <a:off x="1927146" y="567690"/>
            <a:ext cx="1150025" cy="18835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818"/>
              </a:lnSpc>
              <a:spcBef>
                <a:spcPts val="0"/>
              </a:spcBef>
              <a:spcAft>
                <a:spcPts val="0"/>
              </a:spcAft>
              <a:buClr>
                <a:srgbClr val="FF954F"/>
              </a:buClr>
              <a:buSzPts val="1100"/>
              <a:buFont typeface="Montserrat"/>
              <a:buNone/>
            </a:pPr>
            <a:r>
              <a:rPr b="0" i="0" lang="en-US" sz="1100" u="none" cap="none" strike="noStrike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ARCHITECTURE</a:t>
            </a:r>
            <a:endParaRPr b="0" i="0" sz="1100" u="none" cap="none" strike="noStrike"/>
          </a:p>
        </p:txBody>
      </p:sp>
      <p:sp>
        <p:nvSpPr>
          <p:cNvPr id="120" name="Google Shape;120;p17"/>
          <p:cNvSpPr/>
          <p:nvPr/>
        </p:nvSpPr>
        <p:spPr>
          <a:xfrm>
            <a:off x="1586032" y="897969"/>
            <a:ext cx="7270432" cy="67698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100"/>
              <a:buFont typeface="Marcellus"/>
              <a:buNone/>
            </a:pPr>
            <a:r>
              <a:rPr b="0" i="0" lang="en-US" sz="4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System Architecture &amp; Pipeline</a:t>
            </a:r>
            <a:endParaRPr b="0" i="0" sz="4100" u="none" cap="none" strike="noStrike"/>
          </a:p>
        </p:txBody>
      </p:sp>
      <p:pic>
        <p:nvPicPr>
          <p:cNvPr descr="preencoded.png" id="121" name="Google Shape;121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86032" y="1846659"/>
            <a:ext cx="905708" cy="1086922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17"/>
          <p:cNvSpPr/>
          <p:nvPr/>
        </p:nvSpPr>
        <p:spPr>
          <a:xfrm>
            <a:off x="2672834" y="2027753"/>
            <a:ext cx="2604135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50"/>
              <a:buFont typeface="Marcellus"/>
              <a:buNone/>
            </a:pPr>
            <a:r>
              <a:rPr b="0" i="0" lang="en-US" sz="2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Image Upload</a:t>
            </a:r>
            <a:endParaRPr b="0" i="0" sz="2050" u="none" cap="none" strike="noStrike"/>
          </a:p>
        </p:txBody>
      </p:sp>
      <p:sp>
        <p:nvSpPr>
          <p:cNvPr id="123" name="Google Shape;123;p17"/>
          <p:cNvSpPr/>
          <p:nvPr/>
        </p:nvSpPr>
        <p:spPr>
          <a:xfrm>
            <a:off x="2672834" y="2474833"/>
            <a:ext cx="10371534" cy="235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User uploads food image via Streamlit interface</a:t>
            </a:r>
            <a:endParaRPr b="0" i="0" sz="1400" u="none" cap="none" strike="noStrike"/>
          </a:p>
        </p:txBody>
      </p:sp>
      <p:pic>
        <p:nvPicPr>
          <p:cNvPr descr="preencoded.png" id="124" name="Google Shape;124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586032" y="2933581"/>
            <a:ext cx="905708" cy="1086922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7"/>
          <p:cNvSpPr/>
          <p:nvPr/>
        </p:nvSpPr>
        <p:spPr>
          <a:xfrm>
            <a:off x="2672834" y="3114675"/>
            <a:ext cx="2604135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50"/>
              <a:buFont typeface="Marcellus"/>
              <a:buNone/>
            </a:pPr>
            <a:r>
              <a:rPr b="0" i="0" lang="en-US" sz="2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Preprocessing</a:t>
            </a:r>
            <a:endParaRPr b="0" i="0" sz="2050" u="none" cap="none" strike="noStrike"/>
          </a:p>
        </p:txBody>
      </p:sp>
      <p:sp>
        <p:nvSpPr>
          <p:cNvPr id="126" name="Google Shape;126;p17"/>
          <p:cNvSpPr/>
          <p:nvPr/>
        </p:nvSpPr>
        <p:spPr>
          <a:xfrm>
            <a:off x="2672834" y="3561755"/>
            <a:ext cx="10371534" cy="235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Image normalization and model selection</a:t>
            </a:r>
            <a:endParaRPr b="0" i="0" sz="1400" u="none" cap="none" strike="noStrike"/>
          </a:p>
        </p:txBody>
      </p:sp>
      <p:pic>
        <p:nvPicPr>
          <p:cNvPr descr="preencoded.png" id="127" name="Google Shape;127;p1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586032" y="4020503"/>
            <a:ext cx="905708" cy="1086922"/>
          </a:xfrm>
          <a:prstGeom prst="rect">
            <a:avLst/>
          </a:prstGeom>
          <a:noFill/>
          <a:ln>
            <a:noFill/>
          </a:ln>
        </p:spPr>
      </p:pic>
      <p:sp>
        <p:nvSpPr>
          <p:cNvPr id="128" name="Google Shape;128;p17"/>
          <p:cNvSpPr/>
          <p:nvPr/>
        </p:nvSpPr>
        <p:spPr>
          <a:xfrm>
            <a:off x="2672834" y="4201597"/>
            <a:ext cx="2604135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50"/>
              <a:buFont typeface="Marcellus"/>
              <a:buNone/>
            </a:pPr>
            <a:r>
              <a:rPr b="0" i="0" lang="en-US" sz="2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Enhancement</a:t>
            </a:r>
            <a:endParaRPr b="0" i="0" sz="2050" u="none" cap="none" strike="noStrike"/>
          </a:p>
        </p:txBody>
      </p:sp>
      <p:sp>
        <p:nvSpPr>
          <p:cNvPr id="129" name="Google Shape;129;p17"/>
          <p:cNvSpPr/>
          <p:nvPr/>
        </p:nvSpPr>
        <p:spPr>
          <a:xfrm>
            <a:off x="2672834" y="4648676"/>
            <a:ext cx="10371534" cy="235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Nutrition lookup, LLM insights, video retrieval</a:t>
            </a:r>
            <a:endParaRPr b="0" i="0" sz="1400" u="none" cap="none" strike="noStrike"/>
          </a:p>
        </p:txBody>
      </p:sp>
      <p:pic>
        <p:nvPicPr>
          <p:cNvPr descr="preencoded.png" id="130" name="Google Shape;130;p1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586032" y="5107424"/>
            <a:ext cx="905708" cy="1086922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17"/>
          <p:cNvSpPr/>
          <p:nvPr/>
        </p:nvSpPr>
        <p:spPr>
          <a:xfrm>
            <a:off x="2672834" y="5288518"/>
            <a:ext cx="2604135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050"/>
              <a:buFont typeface="Marcellus"/>
              <a:buNone/>
            </a:pPr>
            <a:r>
              <a:rPr b="0" i="0" lang="en-US" sz="20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Results Display</a:t>
            </a:r>
            <a:endParaRPr b="0" i="0" sz="2050" u="none" cap="none" strike="noStrike"/>
          </a:p>
        </p:txBody>
      </p:sp>
      <p:sp>
        <p:nvSpPr>
          <p:cNvPr id="132" name="Google Shape;132;p17"/>
          <p:cNvSpPr/>
          <p:nvPr/>
        </p:nvSpPr>
        <p:spPr>
          <a:xfrm>
            <a:off x="2672834" y="5735598"/>
            <a:ext cx="10371534" cy="2355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Comprehensive output in web interface</a:t>
            </a:r>
            <a:endParaRPr b="0" i="0" sz="1400" u="none" cap="none" strike="noStrike"/>
          </a:p>
        </p:txBody>
      </p:sp>
      <p:sp>
        <p:nvSpPr>
          <p:cNvPr id="133" name="Google Shape;133;p17"/>
          <p:cNvSpPr/>
          <p:nvPr/>
        </p:nvSpPr>
        <p:spPr>
          <a:xfrm>
            <a:off x="1586032" y="6579156"/>
            <a:ext cx="2604135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050"/>
              <a:buFont typeface="Marcellus"/>
              <a:buNone/>
            </a:pPr>
            <a:r>
              <a:rPr b="0" i="0" lang="en-US" sz="2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Frontend Technology</a:t>
            </a:r>
            <a:endParaRPr b="0" i="0" sz="2050" u="none" cap="none" strike="noStrike"/>
          </a:p>
        </p:txBody>
      </p:sp>
      <p:sp>
        <p:nvSpPr>
          <p:cNvPr id="134" name="Google Shape;134;p17"/>
          <p:cNvSpPr/>
          <p:nvPr/>
        </p:nvSpPr>
        <p:spPr>
          <a:xfrm>
            <a:off x="1586032" y="7098744"/>
            <a:ext cx="5508188" cy="471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Streamlit</a:t>
            </a:r>
            <a:r>
              <a:rPr b="0" i="0" lang="en-US" sz="14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powers the interactive web interface with session state management for smooth user experience</a:t>
            </a:r>
            <a:endParaRPr b="0" i="0" sz="1400" u="none" cap="none" strike="noStrike"/>
          </a:p>
        </p:txBody>
      </p:sp>
      <p:sp>
        <p:nvSpPr>
          <p:cNvPr id="135" name="Google Shape;135;p17"/>
          <p:cNvSpPr/>
          <p:nvPr/>
        </p:nvSpPr>
        <p:spPr>
          <a:xfrm>
            <a:off x="7543800" y="6579156"/>
            <a:ext cx="2604135" cy="3384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26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050"/>
              <a:buFont typeface="Marcellus"/>
              <a:buNone/>
            </a:pPr>
            <a:r>
              <a:rPr b="0" i="0" lang="en-US" sz="2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Backend Technology</a:t>
            </a:r>
            <a:endParaRPr b="0" i="0" sz="2050" u="none" cap="none" strike="noStrike"/>
          </a:p>
        </p:txBody>
      </p:sp>
      <p:sp>
        <p:nvSpPr>
          <p:cNvPr id="136" name="Google Shape;136;p17"/>
          <p:cNvSpPr/>
          <p:nvPr/>
        </p:nvSpPr>
        <p:spPr>
          <a:xfrm>
            <a:off x="7543800" y="7098744"/>
            <a:ext cx="5508188" cy="47101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400"/>
              <a:buFont typeface="Montserrat"/>
              <a:buNone/>
            </a:pPr>
            <a:r>
              <a:rPr b="1" i="0" lang="en-US" sz="14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PyTorch + ONNX Runtime</a:t>
            </a:r>
            <a:r>
              <a:rPr b="0" i="0" lang="en-US" sz="14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enables efficient model training and optimized production inference</a:t>
            </a:r>
            <a:endParaRPr b="0" i="0" sz="1400" u="none" cap="none" strike="noStrike"/>
          </a:p>
        </p:txBody>
      </p:sp>
      <p:sp>
        <p:nvSpPr>
          <p:cNvPr id="137" name="Google Shape;137;p17"/>
          <p:cNvSpPr/>
          <p:nvPr/>
        </p:nvSpPr>
        <p:spPr>
          <a:xfrm>
            <a:off x="12406650" y="7450475"/>
            <a:ext cx="2104200" cy="677100"/>
          </a:xfrm>
          <a:prstGeom prst="rect">
            <a:avLst/>
          </a:prstGeom>
          <a:solidFill>
            <a:srgbClr val="FDFCF1"/>
          </a:solidFill>
          <a:ln cap="flat" cmpd="sng" w="9525">
            <a:solidFill>
              <a:srgbClr val="FDF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18"/>
          <p:cNvSpPr/>
          <p:nvPr/>
        </p:nvSpPr>
        <p:spPr>
          <a:xfrm>
            <a:off x="793790" y="797838"/>
            <a:ext cx="8022074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Three Model Architectures</a:t>
            </a:r>
            <a:endParaRPr b="0" i="0" sz="5100" u="none" cap="none" strike="noStrike"/>
          </a:p>
        </p:txBody>
      </p:sp>
      <p:sp>
        <p:nvSpPr>
          <p:cNvPr id="144" name="Google Shape;144;p18"/>
          <p:cNvSpPr/>
          <p:nvPr/>
        </p:nvSpPr>
        <p:spPr>
          <a:xfrm>
            <a:off x="793790" y="1985724"/>
            <a:ext cx="13042821" cy="1664137"/>
          </a:xfrm>
          <a:prstGeom prst="roundRect">
            <a:avLst>
              <a:gd fmla="val 5725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18"/>
          <p:cNvSpPr/>
          <p:nvPr/>
        </p:nvSpPr>
        <p:spPr>
          <a:xfrm>
            <a:off x="824270" y="2016204"/>
            <a:ext cx="907256" cy="1603177"/>
          </a:xfrm>
          <a:prstGeom prst="roundRect">
            <a:avLst>
              <a:gd fmla="val 6469" name="adj"/>
            </a:avLst>
          </a:prstGeom>
          <a:solidFill>
            <a:srgbClr val="FF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46" name="Google Shape;14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096328" y="2647593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/>
          <p:nvPr/>
        </p:nvSpPr>
        <p:spPr>
          <a:xfrm>
            <a:off x="1958340" y="2243018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LeNet64</a:t>
            </a:r>
            <a:endParaRPr b="0" i="0" sz="2550" u="none" cap="none" strike="noStrike"/>
          </a:p>
        </p:txBody>
      </p:sp>
      <p:sp>
        <p:nvSpPr>
          <p:cNvPr id="148" name="Google Shape;148;p18"/>
          <p:cNvSpPr/>
          <p:nvPr/>
        </p:nvSpPr>
        <p:spPr>
          <a:xfrm>
            <a:off x="1958340" y="2802969"/>
            <a:ext cx="1162097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Lightweight CNN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designed for speed. Processes 64×64 images with fast inference times, making it ideal for low-resource environments and edge deployment scenarios.</a:t>
            </a:r>
            <a:endParaRPr b="0" i="0" sz="1750" u="none" cap="none" strike="noStrike"/>
          </a:p>
        </p:txBody>
      </p:sp>
      <p:sp>
        <p:nvSpPr>
          <p:cNvPr id="149" name="Google Shape;149;p18"/>
          <p:cNvSpPr/>
          <p:nvPr/>
        </p:nvSpPr>
        <p:spPr>
          <a:xfrm>
            <a:off x="793790" y="3876675"/>
            <a:ext cx="13042821" cy="1664137"/>
          </a:xfrm>
          <a:prstGeom prst="roundRect">
            <a:avLst>
              <a:gd fmla="val 5725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18"/>
          <p:cNvSpPr/>
          <p:nvPr/>
        </p:nvSpPr>
        <p:spPr>
          <a:xfrm>
            <a:off x="824270" y="3907155"/>
            <a:ext cx="907256" cy="1603177"/>
          </a:xfrm>
          <a:prstGeom prst="roundRect">
            <a:avLst>
              <a:gd fmla="val 6469" name="adj"/>
            </a:avLst>
          </a:prstGeom>
          <a:solidFill>
            <a:srgbClr val="FF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1" name="Google Shape;151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96328" y="4538543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52" name="Google Shape;152;p18"/>
          <p:cNvSpPr/>
          <p:nvPr/>
        </p:nvSpPr>
        <p:spPr>
          <a:xfrm>
            <a:off x="1958340" y="4133969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TinyVGG</a:t>
            </a:r>
            <a:endParaRPr b="0" i="0" sz="2550" u="none" cap="none" strike="noStrike"/>
          </a:p>
        </p:txBody>
      </p:sp>
      <p:sp>
        <p:nvSpPr>
          <p:cNvPr id="153" name="Google Shape;153;p18"/>
          <p:cNvSpPr/>
          <p:nvPr/>
        </p:nvSpPr>
        <p:spPr>
          <a:xfrm>
            <a:off x="1958340" y="4693920"/>
            <a:ext cx="1162097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VGG-inspired architecture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striking the perfect balance. Incorporates BatchNorm and Dropout for regularization while maintaining reasonable computational requirements.</a:t>
            </a:r>
            <a:endParaRPr b="0" i="0" sz="1750" u="none" cap="none" strike="noStrike"/>
          </a:p>
        </p:txBody>
      </p:sp>
      <p:sp>
        <p:nvSpPr>
          <p:cNvPr id="154" name="Google Shape;154;p18"/>
          <p:cNvSpPr/>
          <p:nvPr/>
        </p:nvSpPr>
        <p:spPr>
          <a:xfrm>
            <a:off x="793790" y="5767626"/>
            <a:ext cx="13042821" cy="1664137"/>
          </a:xfrm>
          <a:prstGeom prst="roundRect">
            <a:avLst>
              <a:gd fmla="val 5725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18"/>
          <p:cNvSpPr/>
          <p:nvPr/>
        </p:nvSpPr>
        <p:spPr>
          <a:xfrm>
            <a:off x="824270" y="5798106"/>
            <a:ext cx="907256" cy="1603177"/>
          </a:xfrm>
          <a:prstGeom prst="roundRect">
            <a:avLst>
              <a:gd fmla="val 6469" name="adj"/>
            </a:avLst>
          </a:prstGeom>
          <a:solidFill>
            <a:srgbClr val="FFFFF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56" name="Google Shape;15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96328" y="6429494"/>
            <a:ext cx="340162" cy="34016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8"/>
          <p:cNvSpPr/>
          <p:nvPr/>
        </p:nvSpPr>
        <p:spPr>
          <a:xfrm>
            <a:off x="1958340" y="6024920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ResNet18</a:t>
            </a:r>
            <a:endParaRPr b="0" i="0" sz="2550" u="none" cap="none" strike="noStrike"/>
          </a:p>
        </p:txBody>
      </p:sp>
      <p:sp>
        <p:nvSpPr>
          <p:cNvPr id="158" name="Google Shape;158;p18"/>
          <p:cNvSpPr/>
          <p:nvPr/>
        </p:nvSpPr>
        <p:spPr>
          <a:xfrm>
            <a:off x="1958340" y="6584871"/>
            <a:ext cx="11620976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Transfer learning champion.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Pretrained on ImageNet and fine-tuned for food classification, delivering the highest accuracy among all models tested.</a:t>
            </a:r>
            <a:endParaRPr b="0" i="0" sz="1750" u="none" cap="none" strike="noStrike"/>
          </a:p>
        </p:txBody>
      </p:sp>
      <p:sp>
        <p:nvSpPr>
          <p:cNvPr id="159" name="Google Shape;159;p18"/>
          <p:cNvSpPr/>
          <p:nvPr/>
        </p:nvSpPr>
        <p:spPr>
          <a:xfrm>
            <a:off x="12031800" y="7537900"/>
            <a:ext cx="2479200" cy="589500"/>
          </a:xfrm>
          <a:prstGeom prst="rect">
            <a:avLst/>
          </a:prstGeom>
          <a:solidFill>
            <a:srgbClr val="FDFCF1"/>
          </a:solidFill>
          <a:ln cap="flat" cmpd="sng" w="9525">
            <a:solidFill>
              <a:srgbClr val="FDF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9"/>
          <p:cNvSpPr/>
          <p:nvPr/>
        </p:nvSpPr>
        <p:spPr>
          <a:xfrm>
            <a:off x="793790" y="1002268"/>
            <a:ext cx="1954411" cy="371832"/>
          </a:xfrm>
          <a:prstGeom prst="roundRect">
            <a:avLst>
              <a:gd fmla="val 20497" name="adj"/>
            </a:avLst>
          </a:prstGeom>
          <a:solidFill>
            <a:srgbClr val="FFE0CC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29878" y="1097399"/>
            <a:ext cx="181451" cy="181451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9"/>
          <p:cNvSpPr/>
          <p:nvPr/>
        </p:nvSpPr>
        <p:spPr>
          <a:xfrm>
            <a:off x="1202055" y="1070253"/>
            <a:ext cx="1410057" cy="235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214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DATA PIPELINE</a:t>
            </a:r>
            <a:endParaRPr b="0" i="0" sz="1400" u="none" cap="none" strike="noStrike"/>
          </a:p>
        </p:txBody>
      </p:sp>
      <p:sp>
        <p:nvSpPr>
          <p:cNvPr id="168" name="Google Shape;168;p19"/>
          <p:cNvSpPr/>
          <p:nvPr/>
        </p:nvSpPr>
        <p:spPr>
          <a:xfrm>
            <a:off x="793790" y="1464826"/>
            <a:ext cx="7936468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Training Pipeline &amp; Dataset</a:t>
            </a:r>
            <a:endParaRPr b="0" i="0" sz="5100" u="none" cap="none" strike="noStrike"/>
          </a:p>
        </p:txBody>
      </p:sp>
      <p:sp>
        <p:nvSpPr>
          <p:cNvPr id="169" name="Google Shape;169;p19"/>
          <p:cNvSpPr/>
          <p:nvPr/>
        </p:nvSpPr>
        <p:spPr>
          <a:xfrm>
            <a:off x="793790" y="2403277"/>
            <a:ext cx="3568422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Food-101 Dataset Subset</a:t>
            </a:r>
            <a:endParaRPr b="0" i="0" sz="2550" u="none" cap="none" strike="noStrike"/>
          </a:p>
        </p:txBody>
      </p:sp>
      <p:sp>
        <p:nvSpPr>
          <p:cNvPr id="170" name="Google Shape;170;p19"/>
          <p:cNvSpPr/>
          <p:nvPr/>
        </p:nvSpPr>
        <p:spPr>
          <a:xfrm>
            <a:off x="793790" y="3167301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We trained on three diverse food classes from the Food-101 dataset: Pizza, Steak, and Sushi. These categories provide varied visual complexity and real-world applicability.</a:t>
            </a:r>
            <a:endParaRPr b="0" i="0" sz="1750" u="none" cap="none" strike="noStrike"/>
          </a:p>
        </p:txBody>
      </p:sp>
      <p:sp>
        <p:nvSpPr>
          <p:cNvPr id="171" name="Google Shape;171;p19"/>
          <p:cNvSpPr/>
          <p:nvPr/>
        </p:nvSpPr>
        <p:spPr>
          <a:xfrm>
            <a:off x="793790" y="4012049"/>
            <a:ext cx="226814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01</a:t>
            </a:r>
            <a:endParaRPr b="0" i="0" sz="1750" u="none" cap="none" strike="noStrike"/>
          </a:p>
        </p:txBody>
      </p:sp>
      <p:sp>
        <p:nvSpPr>
          <p:cNvPr id="172" name="Google Shape;172;p19"/>
          <p:cNvSpPr/>
          <p:nvPr/>
        </p:nvSpPr>
        <p:spPr>
          <a:xfrm>
            <a:off x="793790" y="4378404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19"/>
          <p:cNvSpPr/>
          <p:nvPr/>
        </p:nvSpPr>
        <p:spPr>
          <a:xfrm>
            <a:off x="793790" y="4552712"/>
            <a:ext cx="3717131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Exploratory Data Analysis</a:t>
            </a:r>
            <a:endParaRPr b="0" i="0" sz="2550" u="none" cap="none" strike="noStrike"/>
          </a:p>
        </p:txBody>
      </p:sp>
      <p:sp>
        <p:nvSpPr>
          <p:cNvPr id="174" name="Google Shape;174;p19"/>
          <p:cNvSpPr/>
          <p:nvPr/>
        </p:nvSpPr>
        <p:spPr>
          <a:xfrm>
            <a:off x="793790" y="5112663"/>
            <a:ext cx="4196358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Dataset inspection and visualization</a:t>
            </a:r>
            <a:endParaRPr b="0" i="0" sz="1750" u="none" cap="none" strike="noStrike"/>
          </a:p>
        </p:txBody>
      </p:sp>
      <p:sp>
        <p:nvSpPr>
          <p:cNvPr id="175" name="Google Shape;175;p19"/>
          <p:cNvSpPr/>
          <p:nvPr/>
        </p:nvSpPr>
        <p:spPr>
          <a:xfrm>
            <a:off x="5216962" y="4012049"/>
            <a:ext cx="226814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02</a:t>
            </a:r>
            <a:endParaRPr b="0" i="0" sz="1750" u="none" cap="none" strike="noStrike"/>
          </a:p>
        </p:txBody>
      </p:sp>
      <p:sp>
        <p:nvSpPr>
          <p:cNvPr id="176" name="Google Shape;176;p19"/>
          <p:cNvSpPr/>
          <p:nvPr/>
        </p:nvSpPr>
        <p:spPr>
          <a:xfrm>
            <a:off x="5216962" y="4378404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19"/>
          <p:cNvSpPr/>
          <p:nvPr/>
        </p:nvSpPr>
        <p:spPr>
          <a:xfrm>
            <a:off x="5216962" y="4552712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Model Training</a:t>
            </a:r>
            <a:endParaRPr b="0" i="0" sz="2550" u="none" cap="none" strike="noStrike"/>
          </a:p>
        </p:txBody>
      </p:sp>
      <p:sp>
        <p:nvSpPr>
          <p:cNvPr id="178" name="Google Shape;178;p19"/>
          <p:cNvSpPr/>
          <p:nvPr/>
        </p:nvSpPr>
        <p:spPr>
          <a:xfrm>
            <a:off x="5216962" y="5112663"/>
            <a:ext cx="4196358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PyTorch-based training with validation</a:t>
            </a:r>
            <a:endParaRPr b="0" i="0" sz="1750" u="none" cap="none" strike="noStrike"/>
          </a:p>
        </p:txBody>
      </p:sp>
      <p:sp>
        <p:nvSpPr>
          <p:cNvPr id="179" name="Google Shape;179;p19"/>
          <p:cNvSpPr/>
          <p:nvPr/>
        </p:nvSpPr>
        <p:spPr>
          <a:xfrm>
            <a:off x="9640133" y="4012049"/>
            <a:ext cx="226814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arcellus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03</a:t>
            </a:r>
            <a:endParaRPr b="0" i="0" sz="1750" u="none" cap="none" strike="noStrike"/>
          </a:p>
        </p:txBody>
      </p:sp>
      <p:sp>
        <p:nvSpPr>
          <p:cNvPr id="180" name="Google Shape;180;p19"/>
          <p:cNvSpPr/>
          <p:nvPr/>
        </p:nvSpPr>
        <p:spPr>
          <a:xfrm>
            <a:off x="9640133" y="4378404"/>
            <a:ext cx="4196358" cy="30480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1" name="Google Shape;181;p19"/>
          <p:cNvSpPr/>
          <p:nvPr/>
        </p:nvSpPr>
        <p:spPr>
          <a:xfrm>
            <a:off x="9640133" y="4552712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ONNX Conversion</a:t>
            </a:r>
            <a:endParaRPr b="0" i="0" sz="2550" u="none" cap="none" strike="noStrike"/>
          </a:p>
        </p:txBody>
      </p:sp>
      <p:sp>
        <p:nvSpPr>
          <p:cNvPr id="182" name="Google Shape;182;p19"/>
          <p:cNvSpPr/>
          <p:nvPr/>
        </p:nvSpPr>
        <p:spPr>
          <a:xfrm>
            <a:off x="9640133" y="5112663"/>
            <a:ext cx="4196358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Export models for optimized inference</a:t>
            </a:r>
            <a:endParaRPr b="0" i="0" sz="1750" u="none" cap="none" strike="noStrike"/>
          </a:p>
        </p:txBody>
      </p:sp>
      <p:sp>
        <p:nvSpPr>
          <p:cNvPr id="183" name="Google Shape;183;p19"/>
          <p:cNvSpPr/>
          <p:nvPr/>
        </p:nvSpPr>
        <p:spPr>
          <a:xfrm>
            <a:off x="1133951" y="6382583"/>
            <a:ext cx="12702659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1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Why ONNX?</a:t>
            </a: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 ONNX Runtime delivers faster inference, enables cross-platform deployment, and provides hardware acceleration support for production environments.</a:t>
            </a:r>
            <a:endParaRPr b="0" i="0" sz="1750" u="none" cap="none" strike="noStrike"/>
          </a:p>
        </p:txBody>
      </p:sp>
      <p:sp>
        <p:nvSpPr>
          <p:cNvPr id="184" name="Google Shape;184;p19"/>
          <p:cNvSpPr/>
          <p:nvPr/>
        </p:nvSpPr>
        <p:spPr>
          <a:xfrm>
            <a:off x="793790" y="6127433"/>
            <a:ext cx="30480" cy="1099899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19"/>
          <p:cNvSpPr/>
          <p:nvPr/>
        </p:nvSpPr>
        <p:spPr>
          <a:xfrm>
            <a:off x="12031800" y="6940400"/>
            <a:ext cx="2479200" cy="1187100"/>
          </a:xfrm>
          <a:prstGeom prst="rect">
            <a:avLst/>
          </a:prstGeom>
          <a:solidFill>
            <a:srgbClr val="FDFCF1"/>
          </a:solidFill>
          <a:ln cap="flat" cmpd="sng" w="9525">
            <a:solidFill>
              <a:srgbClr val="FDF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20"/>
          <p:cNvSpPr/>
          <p:nvPr/>
        </p:nvSpPr>
        <p:spPr>
          <a:xfrm>
            <a:off x="793790" y="1455658"/>
            <a:ext cx="8202692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Optimized Inference Engine</a:t>
            </a:r>
            <a:endParaRPr b="0" i="0" sz="5100" u="none" cap="none" strike="noStrike"/>
          </a:p>
        </p:txBody>
      </p:sp>
      <p:sp>
        <p:nvSpPr>
          <p:cNvPr id="192" name="Google Shape;192;p20"/>
          <p:cNvSpPr/>
          <p:nvPr/>
        </p:nvSpPr>
        <p:spPr>
          <a:xfrm>
            <a:off x="793790" y="2757011"/>
            <a:ext cx="4196358" cy="2238494"/>
          </a:xfrm>
          <a:prstGeom prst="roundRect">
            <a:avLst>
              <a:gd fmla="val 4256" name="adj"/>
            </a:avLst>
          </a:prstGeom>
          <a:solidFill>
            <a:srgbClr val="FFFFF4"/>
          </a:solidFill>
          <a:ln cap="flat" cmpd="sng" w="22850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20"/>
          <p:cNvSpPr/>
          <p:nvPr/>
        </p:nvSpPr>
        <p:spPr>
          <a:xfrm>
            <a:off x="1043464" y="3006685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ONNX Runtime</a:t>
            </a:r>
            <a:endParaRPr b="0" i="0" sz="2550" u="none" cap="none" strike="noStrike"/>
          </a:p>
        </p:txBody>
      </p:sp>
      <p:sp>
        <p:nvSpPr>
          <p:cNvPr id="194" name="Google Shape;194;p20"/>
          <p:cNvSpPr/>
          <p:nvPr/>
        </p:nvSpPr>
        <p:spPr>
          <a:xfrm>
            <a:off x="1043464" y="3566636"/>
            <a:ext cx="3697010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Hardware-agnostic inference with GPU (CUDA) acceleration and automatic CPU fallback</a:t>
            </a:r>
            <a:endParaRPr b="0" i="0" sz="1750" u="none" cap="none" strike="noStrike"/>
          </a:p>
        </p:txBody>
      </p:sp>
      <p:sp>
        <p:nvSpPr>
          <p:cNvPr id="195" name="Google Shape;195;p20"/>
          <p:cNvSpPr/>
          <p:nvPr/>
        </p:nvSpPr>
        <p:spPr>
          <a:xfrm>
            <a:off x="5216962" y="2757011"/>
            <a:ext cx="4196358" cy="2238494"/>
          </a:xfrm>
          <a:prstGeom prst="roundRect">
            <a:avLst>
              <a:gd fmla="val 4256" name="adj"/>
            </a:avLst>
          </a:prstGeom>
          <a:solidFill>
            <a:srgbClr val="FFFFF4"/>
          </a:solidFill>
          <a:ln cap="flat" cmpd="sng" w="22850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20"/>
          <p:cNvSpPr/>
          <p:nvPr/>
        </p:nvSpPr>
        <p:spPr>
          <a:xfrm>
            <a:off x="5466636" y="3006685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Numerical Stability</a:t>
            </a:r>
            <a:endParaRPr b="0" i="0" sz="2550" u="none" cap="none" strike="noStrike"/>
          </a:p>
        </p:txBody>
      </p:sp>
      <p:sp>
        <p:nvSpPr>
          <p:cNvPr id="197" name="Google Shape;197;p20"/>
          <p:cNvSpPr/>
          <p:nvPr/>
        </p:nvSpPr>
        <p:spPr>
          <a:xfrm>
            <a:off x="5466636" y="3566636"/>
            <a:ext cx="369701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Robust softmax implementation ensuring accurate probability distributions</a:t>
            </a:r>
            <a:endParaRPr b="0" i="0" sz="1750" u="none" cap="none" strike="noStrike"/>
          </a:p>
        </p:txBody>
      </p:sp>
      <p:sp>
        <p:nvSpPr>
          <p:cNvPr id="198" name="Google Shape;198;p20"/>
          <p:cNvSpPr/>
          <p:nvPr/>
        </p:nvSpPr>
        <p:spPr>
          <a:xfrm>
            <a:off x="9640133" y="2757011"/>
            <a:ext cx="4196358" cy="2238494"/>
          </a:xfrm>
          <a:prstGeom prst="roundRect">
            <a:avLst>
              <a:gd fmla="val 4256" name="adj"/>
            </a:avLst>
          </a:prstGeom>
          <a:solidFill>
            <a:srgbClr val="FFFFF4"/>
          </a:solidFill>
          <a:ln cap="flat" cmpd="sng" w="22850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20"/>
          <p:cNvSpPr/>
          <p:nvPr/>
        </p:nvSpPr>
        <p:spPr>
          <a:xfrm>
            <a:off x="9889808" y="3006685"/>
            <a:ext cx="3260646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Low Latency</a:t>
            </a:r>
            <a:endParaRPr b="0" i="0" sz="2550" u="none" cap="none" strike="noStrike"/>
          </a:p>
        </p:txBody>
      </p:sp>
      <p:sp>
        <p:nvSpPr>
          <p:cNvPr id="200" name="Google Shape;200;p20"/>
          <p:cNvSpPr/>
          <p:nvPr/>
        </p:nvSpPr>
        <p:spPr>
          <a:xfrm>
            <a:off x="9889808" y="3566636"/>
            <a:ext cx="3697010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Sub-second prediction times for real-time user interaction</a:t>
            </a:r>
            <a:endParaRPr b="0" i="0" sz="1750" u="none" cap="none" strike="noStrike"/>
          </a:p>
        </p:txBody>
      </p:sp>
      <p:sp>
        <p:nvSpPr>
          <p:cNvPr id="201" name="Google Shape;201;p20"/>
          <p:cNvSpPr/>
          <p:nvPr/>
        </p:nvSpPr>
        <p:spPr>
          <a:xfrm>
            <a:off x="793790" y="5335667"/>
            <a:ext cx="4116943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Production-First Design</a:t>
            </a:r>
            <a:endParaRPr b="0" i="0" sz="3050" u="none" cap="none" strike="noStrike"/>
          </a:p>
        </p:txBody>
      </p:sp>
      <p:sp>
        <p:nvSpPr>
          <p:cNvPr id="202" name="Google Shape;202;p20"/>
          <p:cNvSpPr/>
          <p:nvPr/>
        </p:nvSpPr>
        <p:spPr>
          <a:xfrm>
            <a:off x="793790" y="6184344"/>
            <a:ext cx="13042821" cy="58959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FoodNet prioritizes inference optimization over training complexity. Our engineering approach focuses on what matters in production: speed, reliability, and user experience.</a:t>
            </a:r>
            <a:endParaRPr b="0" i="0" sz="1750" u="none" cap="none" strike="noStrike"/>
          </a:p>
        </p:txBody>
      </p:sp>
      <p:sp>
        <p:nvSpPr>
          <p:cNvPr id="203" name="Google Shape;203;p20"/>
          <p:cNvSpPr/>
          <p:nvPr/>
        </p:nvSpPr>
        <p:spPr>
          <a:xfrm>
            <a:off x="12031800" y="6940400"/>
            <a:ext cx="2479200" cy="1187100"/>
          </a:xfrm>
          <a:prstGeom prst="rect">
            <a:avLst/>
          </a:prstGeom>
          <a:solidFill>
            <a:srgbClr val="FDFCF1"/>
          </a:solidFill>
          <a:ln cap="flat" cmpd="sng" w="9525">
            <a:solidFill>
              <a:srgbClr val="FDF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1"/>
          <p:cNvSpPr/>
          <p:nvPr/>
        </p:nvSpPr>
        <p:spPr>
          <a:xfrm>
            <a:off x="793790" y="2269212"/>
            <a:ext cx="8041838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Comprehensive Feature Set</a:t>
            </a:r>
            <a:endParaRPr b="0" i="0" sz="5100" u="none" cap="none" strike="noStrike"/>
          </a:p>
        </p:txBody>
      </p:sp>
      <p:sp>
        <p:nvSpPr>
          <p:cNvPr id="210" name="Google Shape;210;p21"/>
          <p:cNvSpPr/>
          <p:nvPr/>
        </p:nvSpPr>
        <p:spPr>
          <a:xfrm>
            <a:off x="793790" y="3797379"/>
            <a:ext cx="3048000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Real-Time Classification</a:t>
            </a:r>
            <a:endParaRPr b="0" i="0" sz="2550" u="none" cap="none" strike="noStrike"/>
          </a:p>
        </p:txBody>
      </p:sp>
      <p:sp>
        <p:nvSpPr>
          <p:cNvPr id="211" name="Google Shape;211;p21"/>
          <p:cNvSpPr/>
          <p:nvPr/>
        </p:nvSpPr>
        <p:spPr>
          <a:xfrm>
            <a:off x="793790" y="4781193"/>
            <a:ext cx="3048000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Instant predictions with confidence visualization through interactive probability charts</a:t>
            </a:r>
            <a:endParaRPr b="0" i="0" sz="1750" u="none" cap="none" strike="noStrike"/>
          </a:p>
        </p:txBody>
      </p:sp>
      <p:sp>
        <p:nvSpPr>
          <p:cNvPr id="212" name="Google Shape;212;p21"/>
          <p:cNvSpPr/>
          <p:nvPr/>
        </p:nvSpPr>
        <p:spPr>
          <a:xfrm>
            <a:off x="4125278" y="3797379"/>
            <a:ext cx="3048119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Nutritional Intelligence</a:t>
            </a:r>
            <a:endParaRPr b="0" i="0" sz="2550" u="none" cap="none" strike="noStrike"/>
          </a:p>
        </p:txBody>
      </p:sp>
      <p:sp>
        <p:nvSpPr>
          <p:cNvPr id="213" name="Google Shape;213;p21"/>
          <p:cNvSpPr/>
          <p:nvPr/>
        </p:nvSpPr>
        <p:spPr>
          <a:xfrm>
            <a:off x="4125278" y="4781193"/>
            <a:ext cx="3048119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Detailed nutritional data per 100g including calories, macros, and key micronutrients</a:t>
            </a:r>
            <a:endParaRPr b="0" i="0" sz="1750" u="none" cap="none" strike="noStrike"/>
          </a:p>
        </p:txBody>
      </p:sp>
      <p:sp>
        <p:nvSpPr>
          <p:cNvPr id="214" name="Google Shape;214;p21"/>
          <p:cNvSpPr/>
          <p:nvPr/>
        </p:nvSpPr>
        <p:spPr>
          <a:xfrm>
            <a:off x="7456884" y="3797379"/>
            <a:ext cx="3048119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AI-Generated Insights</a:t>
            </a:r>
            <a:endParaRPr b="0" i="0" sz="2550" u="none" cap="none" strike="noStrike"/>
          </a:p>
        </p:txBody>
      </p:sp>
      <p:sp>
        <p:nvSpPr>
          <p:cNvPr id="215" name="Google Shape;215;p21"/>
          <p:cNvSpPr/>
          <p:nvPr/>
        </p:nvSpPr>
        <p:spPr>
          <a:xfrm>
            <a:off x="7456884" y="4781193"/>
            <a:ext cx="3048119" cy="117919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Natural language descriptions powered by Groq LLM providing context and details</a:t>
            </a:r>
            <a:endParaRPr b="0" i="0" sz="1750" u="none" cap="none" strike="noStrike"/>
          </a:p>
        </p:txBody>
      </p:sp>
      <p:sp>
        <p:nvSpPr>
          <p:cNvPr id="216" name="Google Shape;216;p21"/>
          <p:cNvSpPr/>
          <p:nvPr/>
        </p:nvSpPr>
        <p:spPr>
          <a:xfrm>
            <a:off x="10788491" y="3797379"/>
            <a:ext cx="3048119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Video Recommendations</a:t>
            </a:r>
            <a:endParaRPr b="0" i="0" sz="2550" u="none" cap="none" strike="noStrike"/>
          </a:p>
        </p:txBody>
      </p:sp>
      <p:sp>
        <p:nvSpPr>
          <p:cNvPr id="217" name="Google Shape;217;p21"/>
          <p:cNvSpPr/>
          <p:nvPr/>
        </p:nvSpPr>
        <p:spPr>
          <a:xfrm>
            <a:off x="10788491" y="4781193"/>
            <a:ext cx="3048119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Curated YouTube cooking videos matched to the identified food type</a:t>
            </a:r>
            <a:endParaRPr b="0" i="0" sz="1750" u="none" cap="none" strike="noStrike"/>
          </a:p>
        </p:txBody>
      </p:sp>
      <p:sp>
        <p:nvSpPr>
          <p:cNvPr id="218" name="Google Shape;218;p21"/>
          <p:cNvSpPr/>
          <p:nvPr/>
        </p:nvSpPr>
        <p:spPr>
          <a:xfrm>
            <a:off x="12031800" y="6940400"/>
            <a:ext cx="2479200" cy="1187100"/>
          </a:xfrm>
          <a:prstGeom prst="rect">
            <a:avLst/>
          </a:prstGeom>
          <a:solidFill>
            <a:srgbClr val="FDFCF1"/>
          </a:solidFill>
          <a:ln cap="flat" cmpd="sng" w="9525">
            <a:solidFill>
              <a:srgbClr val="FDF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22"/>
          <p:cNvSpPr/>
          <p:nvPr/>
        </p:nvSpPr>
        <p:spPr>
          <a:xfrm>
            <a:off x="789503" y="621506"/>
            <a:ext cx="1891784" cy="400288"/>
          </a:xfrm>
          <a:prstGeom prst="roundRect">
            <a:avLst>
              <a:gd fmla="val 18935" name="adj"/>
            </a:avLst>
          </a:prstGeom>
          <a:noFill/>
          <a:ln cap="flat" cmpd="sng" w="15225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descr="preencoded.png" id="225" name="Google Shape;225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39998" y="731401"/>
            <a:ext cx="180380" cy="18038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2"/>
          <p:cNvSpPr/>
          <p:nvPr/>
        </p:nvSpPr>
        <p:spPr>
          <a:xfrm>
            <a:off x="1210508" y="704374"/>
            <a:ext cx="1320284" cy="23455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8571"/>
              </a:lnSpc>
              <a:spcBef>
                <a:spcPts val="0"/>
              </a:spcBef>
              <a:spcAft>
                <a:spcPts val="0"/>
              </a:spcAft>
              <a:buClr>
                <a:srgbClr val="FF954F"/>
              </a:buClr>
              <a:buSzPts val="1400"/>
              <a:buFont typeface="Montserrat"/>
              <a:buNone/>
            </a:pPr>
            <a:r>
              <a:rPr b="0" i="0" lang="en-US" sz="1400" u="none" cap="none" strike="noStrike">
                <a:solidFill>
                  <a:srgbClr val="FF954F"/>
                </a:solidFill>
                <a:latin typeface="Montserrat"/>
                <a:ea typeface="Montserrat"/>
                <a:cs typeface="Montserrat"/>
                <a:sym typeface="Montserrat"/>
              </a:rPr>
              <a:t>ENGINEERING</a:t>
            </a:r>
            <a:endParaRPr b="0" i="0" sz="1400" u="none" cap="none" strike="noStrike"/>
          </a:p>
        </p:txBody>
      </p:sp>
      <p:sp>
        <p:nvSpPr>
          <p:cNvPr id="227" name="Google Shape;227;p22"/>
          <p:cNvSpPr/>
          <p:nvPr/>
        </p:nvSpPr>
        <p:spPr>
          <a:xfrm>
            <a:off x="789503" y="1111925"/>
            <a:ext cx="8657392" cy="8430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Deployment &amp; System Design</a:t>
            </a:r>
            <a:endParaRPr b="0" i="0" sz="5100" u="none" cap="none" strike="noStrike"/>
          </a:p>
        </p:txBody>
      </p:sp>
      <p:sp>
        <p:nvSpPr>
          <p:cNvPr id="228" name="Google Shape;228;p22"/>
          <p:cNvSpPr/>
          <p:nvPr/>
        </p:nvSpPr>
        <p:spPr>
          <a:xfrm>
            <a:off x="789503" y="2518767"/>
            <a:ext cx="5500807" cy="50577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508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Production-Ready Architecture</a:t>
            </a:r>
            <a:endParaRPr b="0" i="0" sz="3050" u="none" cap="none" strike="noStrike"/>
          </a:p>
        </p:txBody>
      </p:sp>
      <p:sp>
        <p:nvSpPr>
          <p:cNvPr id="229" name="Google Shape;229;p22"/>
          <p:cNvSpPr/>
          <p:nvPr/>
        </p:nvSpPr>
        <p:spPr>
          <a:xfrm>
            <a:off x="789503" y="3250049"/>
            <a:ext cx="6930628" cy="117300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FoodNet is built with scalability and maintainability at its core. The modular project structure separates concerns cleanly, while Streamlit provides an intuitive web interface with sophisticated session state management.</a:t>
            </a:r>
            <a:endParaRPr b="0" i="0" sz="1750" u="none" cap="none" strike="noStrike"/>
          </a:p>
        </p:txBody>
      </p:sp>
      <p:sp>
        <p:nvSpPr>
          <p:cNvPr id="230" name="Google Shape;230;p22"/>
          <p:cNvSpPr/>
          <p:nvPr/>
        </p:nvSpPr>
        <p:spPr>
          <a:xfrm>
            <a:off x="789503" y="4648557"/>
            <a:ext cx="3242548" cy="421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Key Design Principles</a:t>
            </a:r>
            <a:endParaRPr b="0" i="0" sz="2550" u="none" cap="none" strike="noStrike"/>
          </a:p>
        </p:txBody>
      </p:sp>
      <p:sp>
        <p:nvSpPr>
          <p:cNvPr id="231" name="Google Shape;231;p22"/>
          <p:cNvSpPr/>
          <p:nvPr/>
        </p:nvSpPr>
        <p:spPr>
          <a:xfrm>
            <a:off x="789503" y="5295424"/>
            <a:ext cx="6930628" cy="29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Clean separation of models, utilities, and configuration</a:t>
            </a:r>
            <a:endParaRPr b="0" i="0" sz="1750" u="none" cap="none" strike="noStrike"/>
          </a:p>
        </p:txBody>
      </p:sp>
      <p:sp>
        <p:nvSpPr>
          <p:cNvPr id="232" name="Google Shape;232;p22"/>
          <p:cNvSpPr/>
          <p:nvPr/>
        </p:nvSpPr>
        <p:spPr>
          <a:xfrm>
            <a:off x="789503" y="5667613"/>
            <a:ext cx="6930628" cy="29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Environment-based API key handling for security</a:t>
            </a:r>
            <a:endParaRPr b="0" i="0" sz="1750" u="none" cap="none" strike="noStrike"/>
          </a:p>
        </p:txBody>
      </p:sp>
      <p:sp>
        <p:nvSpPr>
          <p:cNvPr id="233" name="Google Shape;233;p22"/>
          <p:cNvSpPr/>
          <p:nvPr/>
        </p:nvSpPr>
        <p:spPr>
          <a:xfrm>
            <a:off x="789503" y="6039803"/>
            <a:ext cx="6930628" cy="29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Extensible architecture for future enhancements</a:t>
            </a:r>
            <a:endParaRPr b="0" i="0" sz="1750" u="none" cap="none" strike="noStrike"/>
          </a:p>
        </p:txBody>
      </p:sp>
      <p:sp>
        <p:nvSpPr>
          <p:cNvPr id="234" name="Google Shape;234;p22"/>
          <p:cNvSpPr/>
          <p:nvPr/>
        </p:nvSpPr>
        <p:spPr>
          <a:xfrm>
            <a:off x="789503" y="6411992"/>
            <a:ext cx="6930628" cy="29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Char char="•"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Session state management for seamless UX</a:t>
            </a:r>
            <a:endParaRPr b="0" i="0" sz="1750" u="none" cap="none" strike="noStrike"/>
          </a:p>
        </p:txBody>
      </p:sp>
      <p:sp>
        <p:nvSpPr>
          <p:cNvPr id="235" name="Google Shape;235;p22"/>
          <p:cNvSpPr/>
          <p:nvPr/>
        </p:nvSpPr>
        <p:spPr>
          <a:xfrm>
            <a:off x="8278058" y="2546985"/>
            <a:ext cx="5570458" cy="1452086"/>
          </a:xfrm>
          <a:prstGeom prst="roundRect">
            <a:avLst>
              <a:gd fmla="val 6524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6" name="Google Shape;236;p22"/>
          <p:cNvSpPr/>
          <p:nvPr/>
        </p:nvSpPr>
        <p:spPr>
          <a:xfrm>
            <a:off x="8534043" y="2802969"/>
            <a:ext cx="3242548" cy="421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Streamlit Frontend</a:t>
            </a:r>
            <a:endParaRPr b="0" i="0" sz="2550" u="none" cap="none" strike="noStrike"/>
          </a:p>
        </p:txBody>
      </p:sp>
      <p:sp>
        <p:nvSpPr>
          <p:cNvPr id="237" name="Google Shape;237;p22"/>
          <p:cNvSpPr/>
          <p:nvPr/>
        </p:nvSpPr>
        <p:spPr>
          <a:xfrm>
            <a:off x="8534043" y="3449836"/>
            <a:ext cx="5058489" cy="29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Interactive web application</a:t>
            </a:r>
            <a:endParaRPr b="0" i="0" sz="1750" u="none" cap="none" strike="noStrike"/>
          </a:p>
        </p:txBody>
      </p:sp>
      <p:sp>
        <p:nvSpPr>
          <p:cNvPr id="238" name="Google Shape;238;p22"/>
          <p:cNvSpPr/>
          <p:nvPr/>
        </p:nvSpPr>
        <p:spPr>
          <a:xfrm>
            <a:off x="8278058" y="4224576"/>
            <a:ext cx="5570458" cy="1452086"/>
          </a:xfrm>
          <a:prstGeom prst="roundRect">
            <a:avLst>
              <a:gd fmla="val 6524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2"/>
          <p:cNvSpPr/>
          <p:nvPr/>
        </p:nvSpPr>
        <p:spPr>
          <a:xfrm>
            <a:off x="8534043" y="4480560"/>
            <a:ext cx="3242548" cy="421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Modular Backend</a:t>
            </a:r>
            <a:endParaRPr b="0" i="0" sz="2550" u="none" cap="none" strike="noStrike"/>
          </a:p>
        </p:txBody>
      </p:sp>
      <p:sp>
        <p:nvSpPr>
          <p:cNvPr id="240" name="Google Shape;240;p22"/>
          <p:cNvSpPr/>
          <p:nvPr/>
        </p:nvSpPr>
        <p:spPr>
          <a:xfrm>
            <a:off x="8534043" y="5127427"/>
            <a:ext cx="5058489" cy="29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Organized, maintainable codebase</a:t>
            </a:r>
            <a:endParaRPr b="0" i="0" sz="1750" u="none" cap="none" strike="noStrike"/>
          </a:p>
        </p:txBody>
      </p:sp>
      <p:sp>
        <p:nvSpPr>
          <p:cNvPr id="241" name="Google Shape;241;p22"/>
          <p:cNvSpPr/>
          <p:nvPr/>
        </p:nvSpPr>
        <p:spPr>
          <a:xfrm>
            <a:off x="8278058" y="5902166"/>
            <a:ext cx="5570458" cy="1452086"/>
          </a:xfrm>
          <a:prstGeom prst="roundRect">
            <a:avLst>
              <a:gd fmla="val 6524" name="adj"/>
            </a:avLst>
          </a:prstGeom>
          <a:solidFill>
            <a:srgbClr val="FFFFF4">
              <a:alpha val="94901"/>
            </a:srgbClr>
          </a:solidFill>
          <a:ln cap="flat" cmpd="sng" w="30475">
            <a:solidFill>
              <a:srgbClr val="FFE0C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22"/>
          <p:cNvSpPr/>
          <p:nvPr/>
        </p:nvSpPr>
        <p:spPr>
          <a:xfrm>
            <a:off x="8534043" y="6158151"/>
            <a:ext cx="3242548" cy="42136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550"/>
              <a:buFont typeface="Marcellus"/>
              <a:buNone/>
            </a:pPr>
            <a:r>
              <a:rPr b="0" i="0" lang="en-US" sz="25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API Integration</a:t>
            </a:r>
            <a:endParaRPr b="0" i="0" sz="2550" u="none" cap="none" strike="noStrike"/>
          </a:p>
        </p:txBody>
      </p:sp>
      <p:sp>
        <p:nvSpPr>
          <p:cNvPr id="243" name="Google Shape;243;p22"/>
          <p:cNvSpPr/>
          <p:nvPr/>
        </p:nvSpPr>
        <p:spPr>
          <a:xfrm>
            <a:off x="8534043" y="6805017"/>
            <a:ext cx="5058489" cy="29325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Groq LLM + YouTube Data API</a:t>
            </a:r>
            <a:endParaRPr b="0" i="0" sz="1750" u="none" cap="none" strike="noStrike"/>
          </a:p>
        </p:txBody>
      </p:sp>
      <p:sp>
        <p:nvSpPr>
          <p:cNvPr id="244" name="Google Shape;244;p22"/>
          <p:cNvSpPr/>
          <p:nvPr/>
        </p:nvSpPr>
        <p:spPr>
          <a:xfrm>
            <a:off x="12031800" y="7502675"/>
            <a:ext cx="2479200" cy="624900"/>
          </a:xfrm>
          <a:prstGeom prst="rect">
            <a:avLst/>
          </a:prstGeom>
          <a:solidFill>
            <a:srgbClr val="FDFCF1"/>
          </a:solidFill>
          <a:ln cap="flat" cmpd="sng" w="9525">
            <a:solidFill>
              <a:srgbClr val="FDF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23"/>
          <p:cNvSpPr/>
          <p:nvPr/>
        </p:nvSpPr>
        <p:spPr>
          <a:xfrm>
            <a:off x="1196459" y="532090"/>
            <a:ext cx="7735253" cy="72306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885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4350"/>
              <a:buFont typeface="Marcellus"/>
              <a:buNone/>
            </a:pPr>
            <a:r>
              <a:rPr b="0" i="0" lang="en-US" sz="43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Results, Impact &amp; Future Vision</a:t>
            </a:r>
            <a:endParaRPr b="0" i="0" sz="4350" u="none" cap="none" strike="noStrike"/>
          </a:p>
        </p:txBody>
      </p:sp>
      <p:sp>
        <p:nvSpPr>
          <p:cNvPr id="251" name="Google Shape;251;p23"/>
          <p:cNvSpPr/>
          <p:nvPr/>
        </p:nvSpPr>
        <p:spPr>
          <a:xfrm>
            <a:off x="1196459" y="1641991"/>
            <a:ext cx="6021943" cy="3196709"/>
          </a:xfrm>
          <a:prstGeom prst="roundRect">
            <a:avLst>
              <a:gd fmla="val 2542" name="adj"/>
            </a:avLst>
          </a:prstGeom>
          <a:solidFill>
            <a:srgbClr val="FFFFF4"/>
          </a:solidFill>
          <a:ln cap="flat" cmpd="sng" w="22850">
            <a:solidFill>
              <a:srgbClr val="7D3E2C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23"/>
          <p:cNvSpPr/>
          <p:nvPr/>
        </p:nvSpPr>
        <p:spPr>
          <a:xfrm>
            <a:off x="2538651" y="1858208"/>
            <a:ext cx="3337441" cy="433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600"/>
              <a:buFont typeface="Marcellus"/>
              <a:buNone/>
            </a:pPr>
            <a:r>
              <a:rPr b="0" i="0" lang="en-US" sz="2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Challenges Overcome</a:t>
            </a:r>
            <a:endParaRPr b="0" i="0" sz="2600" u="none" cap="none" strike="noStrike"/>
          </a:p>
        </p:txBody>
      </p:sp>
      <p:sp>
        <p:nvSpPr>
          <p:cNvPr id="253" name="Google Shape;253;p23"/>
          <p:cNvSpPr/>
          <p:nvPr/>
        </p:nvSpPr>
        <p:spPr>
          <a:xfrm>
            <a:off x="1412677" y="2407920"/>
            <a:ext cx="5589508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Limited compute resources requiring strategic optimization</a:t>
            </a:r>
            <a:endParaRPr b="0" i="0" sz="1500" u="none" cap="none" strike="noStrike"/>
          </a:p>
        </p:txBody>
      </p:sp>
      <p:sp>
        <p:nvSpPr>
          <p:cNvPr id="254" name="Google Shape;254;p23"/>
          <p:cNvSpPr/>
          <p:nvPr/>
        </p:nvSpPr>
        <p:spPr>
          <a:xfrm>
            <a:off x="1412677" y="2978468"/>
            <a:ext cx="5589508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Training scope constrained to 3 food classes initially</a:t>
            </a:r>
            <a:endParaRPr b="0" i="0" sz="1500" u="none" cap="none" strike="noStrike"/>
          </a:p>
        </p:txBody>
      </p:sp>
      <p:sp>
        <p:nvSpPr>
          <p:cNvPr id="255" name="Google Shape;255;p23"/>
          <p:cNvSpPr/>
          <p:nvPr/>
        </p:nvSpPr>
        <p:spPr>
          <a:xfrm>
            <a:off x="1412677" y="3297555"/>
            <a:ext cx="5589508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Balancing model complexity with inference speed</a:t>
            </a:r>
            <a:endParaRPr b="0" i="0" sz="1500" u="none" cap="none" strike="noStrike"/>
          </a:p>
        </p:txBody>
      </p:sp>
      <p:sp>
        <p:nvSpPr>
          <p:cNvPr id="256" name="Google Shape;256;p23"/>
          <p:cNvSpPr/>
          <p:nvPr/>
        </p:nvSpPr>
        <p:spPr>
          <a:xfrm>
            <a:off x="7411760" y="1641991"/>
            <a:ext cx="6022062" cy="3196709"/>
          </a:xfrm>
          <a:prstGeom prst="roundRect">
            <a:avLst>
              <a:gd fmla="val 2542" name="adj"/>
            </a:avLst>
          </a:prstGeom>
          <a:solidFill>
            <a:srgbClr val="FFFFF4"/>
          </a:solidFill>
          <a:ln cap="flat" cmpd="sng" w="22850">
            <a:solidFill>
              <a:srgbClr val="FF954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23"/>
          <p:cNvSpPr/>
          <p:nvPr/>
        </p:nvSpPr>
        <p:spPr>
          <a:xfrm>
            <a:off x="8754070" y="1858208"/>
            <a:ext cx="3337441" cy="433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600"/>
              <a:buFont typeface="Marcellus"/>
              <a:buNone/>
            </a:pPr>
            <a:r>
              <a:rPr b="0" i="0" lang="en-US" sz="260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Key Achievements</a:t>
            </a:r>
            <a:endParaRPr b="0" i="0" sz="2600" u="none" cap="none" strike="noStrike"/>
          </a:p>
        </p:txBody>
      </p:sp>
      <p:sp>
        <p:nvSpPr>
          <p:cNvPr id="258" name="Google Shape;258;p23"/>
          <p:cNvSpPr/>
          <p:nvPr/>
        </p:nvSpPr>
        <p:spPr>
          <a:xfrm>
            <a:off x="7627977" y="2407920"/>
            <a:ext cx="558962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Multi-model food classification system with 3 CNN architectures</a:t>
            </a:r>
            <a:endParaRPr b="0" i="0" sz="1500" u="none" cap="none" strike="noStrike"/>
          </a:p>
        </p:txBody>
      </p:sp>
      <p:sp>
        <p:nvSpPr>
          <p:cNvPr id="259" name="Google Shape;259;p23"/>
          <p:cNvSpPr/>
          <p:nvPr/>
        </p:nvSpPr>
        <p:spPr>
          <a:xfrm>
            <a:off x="7627977" y="2978468"/>
            <a:ext cx="558962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ONNX-optimized inference for production deployment</a:t>
            </a:r>
            <a:endParaRPr b="0" i="0" sz="1500" u="none" cap="none" strike="noStrike"/>
          </a:p>
        </p:txBody>
      </p:sp>
      <p:sp>
        <p:nvSpPr>
          <p:cNvPr id="260" name="Google Shape;260;p23"/>
          <p:cNvSpPr/>
          <p:nvPr/>
        </p:nvSpPr>
        <p:spPr>
          <a:xfrm>
            <a:off x="7627977" y="3549015"/>
            <a:ext cx="558962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Seamless integration of computer vision, LLMs, and external APIs</a:t>
            </a:r>
            <a:endParaRPr b="0" i="0" sz="1500" u="none" cap="none" strike="noStrike"/>
          </a:p>
        </p:txBody>
      </p:sp>
      <p:sp>
        <p:nvSpPr>
          <p:cNvPr id="261" name="Google Shape;261;p23"/>
          <p:cNvSpPr/>
          <p:nvPr/>
        </p:nvSpPr>
        <p:spPr>
          <a:xfrm>
            <a:off x="7627977" y="4119563"/>
            <a:ext cx="5589627" cy="5029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42900" lvl="0" marL="34290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Char char="•"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End-to-end pipeline from upload to actionable insights</a:t>
            </a:r>
            <a:endParaRPr b="0" i="0" sz="1500" u="none" cap="none" strike="noStrike"/>
          </a:p>
        </p:txBody>
      </p:sp>
      <p:sp>
        <p:nvSpPr>
          <p:cNvPr id="262" name="Google Shape;262;p23"/>
          <p:cNvSpPr/>
          <p:nvPr/>
        </p:nvSpPr>
        <p:spPr>
          <a:xfrm>
            <a:off x="1196459" y="5128855"/>
            <a:ext cx="3337441" cy="43374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769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2600"/>
              <a:buFont typeface="Marcellus"/>
              <a:buNone/>
            </a:pPr>
            <a:r>
              <a:rPr b="0" i="0" lang="en-US" sz="26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Future Roadmap</a:t>
            </a:r>
            <a:endParaRPr b="0" i="0" sz="2600" u="none" cap="none" strike="noStrike"/>
          </a:p>
        </p:txBody>
      </p:sp>
      <p:sp>
        <p:nvSpPr>
          <p:cNvPr id="263" name="Google Shape;263;p23"/>
          <p:cNvSpPr/>
          <p:nvPr/>
        </p:nvSpPr>
        <p:spPr>
          <a:xfrm>
            <a:off x="1196459" y="5961578"/>
            <a:ext cx="96679" cy="96679"/>
          </a:xfrm>
          <a:prstGeom prst="roundRect">
            <a:avLst>
              <a:gd fmla="val 472905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23"/>
          <p:cNvSpPr/>
          <p:nvPr/>
        </p:nvSpPr>
        <p:spPr>
          <a:xfrm>
            <a:off x="1486495" y="5852755"/>
            <a:ext cx="2781181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150"/>
              <a:buFont typeface="Marcellus"/>
              <a:buNone/>
            </a:pPr>
            <a:r>
              <a:rPr b="0" i="0" lang="en-US" sz="21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Full Food-101 Support</a:t>
            </a:r>
            <a:endParaRPr b="0" i="0" sz="2150" u="none" cap="none" strike="noStrike"/>
          </a:p>
        </p:txBody>
      </p:sp>
      <p:sp>
        <p:nvSpPr>
          <p:cNvPr id="265" name="Google Shape;265;p23"/>
          <p:cNvSpPr/>
          <p:nvPr/>
        </p:nvSpPr>
        <p:spPr>
          <a:xfrm>
            <a:off x="1486495" y="6330196"/>
            <a:ext cx="5707737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Expand to all 101 food categories</a:t>
            </a:r>
            <a:endParaRPr b="0" i="0" sz="1500" u="none" cap="none" strike="noStrike"/>
          </a:p>
        </p:txBody>
      </p:sp>
      <p:sp>
        <p:nvSpPr>
          <p:cNvPr id="266" name="Google Shape;266;p23"/>
          <p:cNvSpPr/>
          <p:nvPr/>
        </p:nvSpPr>
        <p:spPr>
          <a:xfrm>
            <a:off x="7436048" y="5961578"/>
            <a:ext cx="96679" cy="96679"/>
          </a:xfrm>
          <a:prstGeom prst="roundRect">
            <a:avLst>
              <a:gd fmla="val 472905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7" name="Google Shape;267;p23"/>
          <p:cNvSpPr/>
          <p:nvPr/>
        </p:nvSpPr>
        <p:spPr>
          <a:xfrm>
            <a:off x="7726085" y="5852755"/>
            <a:ext cx="2781181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150"/>
              <a:buFont typeface="Marcellus"/>
              <a:buNone/>
            </a:pPr>
            <a:r>
              <a:rPr b="0" i="0" lang="en-US" sz="21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Model Explainability</a:t>
            </a:r>
            <a:endParaRPr b="0" i="0" sz="2150" u="none" cap="none" strike="noStrike"/>
          </a:p>
        </p:txBody>
      </p:sp>
      <p:sp>
        <p:nvSpPr>
          <p:cNvPr id="268" name="Google Shape;268;p23"/>
          <p:cNvSpPr/>
          <p:nvPr/>
        </p:nvSpPr>
        <p:spPr>
          <a:xfrm>
            <a:off x="7726085" y="6330196"/>
            <a:ext cx="5707737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Integrate Grad-CAM visualization</a:t>
            </a:r>
            <a:endParaRPr b="0" i="0" sz="1500" u="none" cap="none" strike="noStrike"/>
          </a:p>
        </p:txBody>
      </p:sp>
      <p:sp>
        <p:nvSpPr>
          <p:cNvPr id="269" name="Google Shape;269;p23"/>
          <p:cNvSpPr/>
          <p:nvPr/>
        </p:nvSpPr>
        <p:spPr>
          <a:xfrm>
            <a:off x="1196459" y="7077313"/>
            <a:ext cx="96679" cy="96679"/>
          </a:xfrm>
          <a:prstGeom prst="roundRect">
            <a:avLst>
              <a:gd fmla="val 472905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23"/>
          <p:cNvSpPr/>
          <p:nvPr/>
        </p:nvSpPr>
        <p:spPr>
          <a:xfrm>
            <a:off x="1486495" y="6968490"/>
            <a:ext cx="2781181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150"/>
              <a:buFont typeface="Marcellus"/>
              <a:buNone/>
            </a:pPr>
            <a:r>
              <a:rPr b="0" i="0" lang="en-US" sz="21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Mobile Deployment</a:t>
            </a:r>
            <a:endParaRPr b="0" i="0" sz="2150" u="none" cap="none" strike="noStrike"/>
          </a:p>
        </p:txBody>
      </p:sp>
      <p:sp>
        <p:nvSpPr>
          <p:cNvPr id="271" name="Google Shape;271;p23"/>
          <p:cNvSpPr/>
          <p:nvPr/>
        </p:nvSpPr>
        <p:spPr>
          <a:xfrm>
            <a:off x="1486495" y="7445931"/>
            <a:ext cx="5707737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Native iOS and Android applications</a:t>
            </a:r>
            <a:endParaRPr b="0" i="0" sz="1500" u="none" cap="none" strike="noStrike"/>
          </a:p>
        </p:txBody>
      </p:sp>
      <p:sp>
        <p:nvSpPr>
          <p:cNvPr id="272" name="Google Shape;272;p23"/>
          <p:cNvSpPr/>
          <p:nvPr/>
        </p:nvSpPr>
        <p:spPr>
          <a:xfrm>
            <a:off x="7436048" y="7077313"/>
            <a:ext cx="96679" cy="96679"/>
          </a:xfrm>
          <a:prstGeom prst="roundRect">
            <a:avLst>
              <a:gd fmla="val 472905" name="adj"/>
            </a:avLst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3" name="Google Shape;273;p23"/>
          <p:cNvSpPr/>
          <p:nvPr/>
        </p:nvSpPr>
        <p:spPr>
          <a:xfrm>
            <a:off x="7726085" y="6968490"/>
            <a:ext cx="2781181" cy="3614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232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2150"/>
              <a:buFont typeface="Marcellus"/>
              <a:buNone/>
            </a:pPr>
            <a:r>
              <a:rPr b="0" i="0" lang="en-US" sz="2150" u="none" cap="none" strike="noStrike">
                <a:solidFill>
                  <a:srgbClr val="67534F"/>
                </a:solidFill>
                <a:latin typeface="Marcellus"/>
                <a:ea typeface="Marcellus"/>
                <a:cs typeface="Marcellus"/>
                <a:sym typeface="Marcellus"/>
              </a:rPr>
              <a:t>Cloud Scaling</a:t>
            </a:r>
            <a:endParaRPr b="0" i="0" sz="2150" u="none" cap="none" strike="noStrike"/>
          </a:p>
        </p:txBody>
      </p:sp>
      <p:sp>
        <p:nvSpPr>
          <p:cNvPr id="274" name="Google Shape;274;p23"/>
          <p:cNvSpPr/>
          <p:nvPr/>
        </p:nvSpPr>
        <p:spPr>
          <a:xfrm>
            <a:off x="7726085" y="7445931"/>
            <a:ext cx="5707737" cy="251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500"/>
              <a:buFont typeface="Montserrat"/>
              <a:buNone/>
            </a:pPr>
            <a:r>
              <a:rPr b="0" i="0" lang="en-US" sz="150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Docker containerization and cloud infrastructure</a:t>
            </a:r>
            <a:endParaRPr b="0" i="0" sz="1500" u="none" cap="none" strike="noStrike"/>
          </a:p>
        </p:txBody>
      </p:sp>
      <p:sp>
        <p:nvSpPr>
          <p:cNvPr id="275" name="Google Shape;275;p23"/>
          <p:cNvSpPr/>
          <p:nvPr/>
        </p:nvSpPr>
        <p:spPr>
          <a:xfrm>
            <a:off x="12594075" y="6940400"/>
            <a:ext cx="1917000" cy="1187100"/>
          </a:xfrm>
          <a:prstGeom prst="rect">
            <a:avLst/>
          </a:prstGeom>
          <a:solidFill>
            <a:srgbClr val="FDFCF1"/>
          </a:solidFill>
          <a:ln cap="flat" cmpd="sng" w="9525">
            <a:solidFill>
              <a:srgbClr val="FDF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4"/>
          <p:cNvSpPr/>
          <p:nvPr/>
        </p:nvSpPr>
        <p:spPr>
          <a:xfrm>
            <a:off x="793790" y="709613"/>
            <a:ext cx="6521291" cy="8477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0392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5100"/>
              <a:buFont typeface="Marcellus"/>
              <a:buNone/>
            </a:pPr>
            <a:r>
              <a:rPr b="0" i="0" lang="en-US" sz="510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User Interface</a:t>
            </a:r>
            <a:endParaRPr b="0" i="0" sz="5100" u="none" cap="none" strike="noStrike"/>
          </a:p>
        </p:txBody>
      </p:sp>
      <p:pic>
        <p:nvPicPr>
          <p:cNvPr descr="preencoded.png" id="282" name="Google Shape;282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152650"/>
            <a:ext cx="2845594" cy="1373029"/>
          </a:xfrm>
          <a:prstGeom prst="rect">
            <a:avLst/>
          </a:prstGeom>
          <a:noFill/>
          <a:ln>
            <a:noFill/>
          </a:ln>
        </p:spPr>
      </p:pic>
      <p:sp>
        <p:nvSpPr>
          <p:cNvPr id="283" name="Google Shape;283;p24"/>
          <p:cNvSpPr/>
          <p:nvPr/>
        </p:nvSpPr>
        <p:spPr>
          <a:xfrm>
            <a:off x="793790" y="3780830"/>
            <a:ext cx="2845594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SzPts val="2550"/>
              <a:buFont typeface="Arial"/>
              <a:buNone/>
            </a:pPr>
            <a:r>
              <a:t/>
            </a:r>
            <a:endParaRPr b="0" i="0" sz="2550" u="none" cap="none" strike="noStrike"/>
          </a:p>
        </p:txBody>
      </p:sp>
      <p:sp>
        <p:nvSpPr>
          <p:cNvPr id="284" name="Google Shape;284;p24"/>
          <p:cNvSpPr/>
          <p:nvPr/>
        </p:nvSpPr>
        <p:spPr>
          <a:xfrm>
            <a:off x="793790" y="4431506"/>
            <a:ext cx="2845594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285" name="Google Shape;285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00406" y="2152650"/>
            <a:ext cx="2845594" cy="1378982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24"/>
          <p:cNvSpPr/>
          <p:nvPr/>
        </p:nvSpPr>
        <p:spPr>
          <a:xfrm>
            <a:off x="4200406" y="3786783"/>
            <a:ext cx="2845594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SzPts val="2550"/>
              <a:buFont typeface="Arial"/>
              <a:buNone/>
            </a:pPr>
            <a:r>
              <a:t/>
            </a:r>
            <a:endParaRPr b="0" i="0" sz="2550" u="none" cap="none" strike="noStrike"/>
          </a:p>
        </p:txBody>
      </p:sp>
      <p:sp>
        <p:nvSpPr>
          <p:cNvPr id="287" name="Google Shape;287;p24"/>
          <p:cNvSpPr/>
          <p:nvPr/>
        </p:nvSpPr>
        <p:spPr>
          <a:xfrm>
            <a:off x="4200406" y="4437459"/>
            <a:ext cx="2845594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288" name="Google Shape;288;p2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07022" y="2152650"/>
            <a:ext cx="2845594" cy="1378982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4"/>
          <p:cNvSpPr/>
          <p:nvPr/>
        </p:nvSpPr>
        <p:spPr>
          <a:xfrm>
            <a:off x="7607022" y="3786783"/>
            <a:ext cx="2845594" cy="42386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9411"/>
              </a:lnSpc>
              <a:spcBef>
                <a:spcPts val="0"/>
              </a:spcBef>
              <a:spcAft>
                <a:spcPts val="0"/>
              </a:spcAft>
              <a:buSzPts val="2550"/>
              <a:buFont typeface="Arial"/>
              <a:buNone/>
            </a:pPr>
            <a:r>
              <a:t/>
            </a:r>
            <a:endParaRPr b="0" i="0" sz="2550" u="none" cap="none" strike="noStrike"/>
          </a:p>
        </p:txBody>
      </p:sp>
      <p:sp>
        <p:nvSpPr>
          <p:cNvPr id="290" name="Google Shape;290;p24"/>
          <p:cNvSpPr/>
          <p:nvPr/>
        </p:nvSpPr>
        <p:spPr>
          <a:xfrm>
            <a:off x="7607022" y="4437459"/>
            <a:ext cx="2845594" cy="29479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SzPts val="1750"/>
              <a:buFont typeface="Arial"/>
              <a:buNone/>
            </a:pPr>
            <a:r>
              <a:t/>
            </a:r>
            <a:endParaRPr b="0" i="0" sz="1750" u="none" cap="none" strike="noStrike"/>
          </a:p>
        </p:txBody>
      </p:sp>
      <p:pic>
        <p:nvPicPr>
          <p:cNvPr descr="preencoded.png" id="291" name="Google Shape;291;p2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1013638" y="2152650"/>
            <a:ext cx="2845594" cy="1378982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24"/>
          <p:cNvSpPr/>
          <p:nvPr/>
        </p:nvSpPr>
        <p:spPr>
          <a:xfrm>
            <a:off x="1133951" y="5531644"/>
            <a:ext cx="3912751" cy="50851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147"/>
              </a:lnSpc>
              <a:spcBef>
                <a:spcPts val="0"/>
              </a:spcBef>
              <a:spcAft>
                <a:spcPts val="0"/>
              </a:spcAft>
              <a:buClr>
                <a:srgbClr val="532418"/>
              </a:buClr>
              <a:buSzPts val="3050"/>
              <a:buFont typeface="Marcellus"/>
              <a:buNone/>
            </a:pPr>
            <a:r>
              <a:rPr b="0" i="0" lang="en-US" sz="3050" u="none" cap="none" strike="noStrike">
                <a:solidFill>
                  <a:srgbClr val="532418"/>
                </a:solidFill>
                <a:latin typeface="Marcellus"/>
                <a:ea typeface="Marcellus"/>
                <a:cs typeface="Marcellus"/>
                <a:sym typeface="Marcellus"/>
              </a:rPr>
              <a:t>Conclusion</a:t>
            </a:r>
            <a:endParaRPr b="0" i="0" sz="3050" u="none" cap="none" strike="noStrike"/>
          </a:p>
        </p:txBody>
      </p:sp>
      <p:sp>
        <p:nvSpPr>
          <p:cNvPr id="293" name="Google Shape;293;p24"/>
          <p:cNvSpPr/>
          <p:nvPr/>
        </p:nvSpPr>
        <p:spPr>
          <a:xfrm>
            <a:off x="1133951" y="6380321"/>
            <a:ext cx="12702659" cy="884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31428"/>
              </a:lnSpc>
              <a:spcBef>
                <a:spcPts val="0"/>
              </a:spcBef>
              <a:spcAft>
                <a:spcPts val="0"/>
              </a:spcAft>
              <a:buClr>
                <a:srgbClr val="67534F"/>
              </a:buClr>
              <a:buSzPts val="1750"/>
              <a:buFont typeface="Montserrat"/>
              <a:buNone/>
            </a:pPr>
            <a:r>
              <a:rPr b="0" i="0" lang="en-US" sz="1750" u="none" cap="none" strike="noStrike">
                <a:solidFill>
                  <a:srgbClr val="67534F"/>
                </a:solidFill>
                <a:latin typeface="Montserrat"/>
                <a:ea typeface="Montserrat"/>
                <a:cs typeface="Montserrat"/>
                <a:sym typeface="Montserrat"/>
              </a:rPr>
              <a:t>FoodNet demonstrates a production-ready approach to intelligent food recognition, combining accuracy, speed, and user value. It provides a strong foundation for real-world applications in nutrition, health, and culinary technology.</a:t>
            </a:r>
            <a:endParaRPr b="0" i="0" sz="1750" u="none" cap="none" strike="noStrike"/>
          </a:p>
        </p:txBody>
      </p:sp>
      <p:sp>
        <p:nvSpPr>
          <p:cNvPr id="294" name="Google Shape;294;p24"/>
          <p:cNvSpPr/>
          <p:nvPr/>
        </p:nvSpPr>
        <p:spPr>
          <a:xfrm>
            <a:off x="793790" y="5191482"/>
            <a:ext cx="30480" cy="2328386"/>
          </a:xfrm>
          <a:prstGeom prst="rect">
            <a:avLst/>
          </a:prstGeom>
          <a:solidFill>
            <a:srgbClr val="FF954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24"/>
          <p:cNvSpPr/>
          <p:nvPr/>
        </p:nvSpPr>
        <p:spPr>
          <a:xfrm>
            <a:off x="12031800" y="7243100"/>
            <a:ext cx="2479200" cy="884400"/>
          </a:xfrm>
          <a:prstGeom prst="rect">
            <a:avLst/>
          </a:prstGeom>
          <a:solidFill>
            <a:srgbClr val="FDFCF1"/>
          </a:solidFill>
          <a:ln cap="flat" cmpd="sng" w="9525">
            <a:solidFill>
              <a:srgbClr val="FDFCF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